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GraphResidual · 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EdgeConv + local Q/K/V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model/graph_residual.py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 / Centroid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83210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7040880" y="5257800"/>
            <a:ext cx="237744" cy="118872"/>
          </a:xfrm>
          <a:custGeom>
            <a:avLst/>
            <a:gdLst/>
            <a:ahLst/>
            <a:cxnLst/>
            <a:rect l="l" t="t" r="r" b="b"/>
            <a:pathLst>
              <a:path w="237743" h="118871">
                <a:moveTo>
                  <a:pt x="0" y="0"/>
                </a:moveTo>
                <a:cubicBezTo>
                  <a:pt x="73152" y="27432"/>
                  <a:pt x="164591" y="82295"/>
                  <a:pt x="237743" y="118871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5687568" y="4736592"/>
            <a:ext cx="1591056" cy="521208"/>
          </a:xfrm>
          <a:custGeom>
            <a:avLst/>
            <a:gdLst/>
            <a:ahLst/>
            <a:cxnLst/>
            <a:rect l="l" t="t" r="r" b="b"/>
            <a:pathLst>
              <a:path w="1591056" h="521208">
                <a:moveTo>
                  <a:pt x="0" y="521208"/>
                </a:moveTo>
                <a:cubicBezTo>
                  <a:pt x="420623" y="18288"/>
                  <a:pt x="1060704" y="0"/>
                  <a:pt x="1591056" y="365760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923544" y="4517136"/>
            <a:ext cx="5001768" cy="1426464"/>
          </a:xfrm>
          <a:custGeom>
            <a:avLst/>
            <a:gdLst/>
            <a:ahLst/>
            <a:cxnLst/>
            <a:rect l="l" t="t" r="r" b="b"/>
            <a:pathLst>
              <a:path w="5001768" h="1426463">
                <a:moveTo>
                  <a:pt x="0" y="0"/>
                </a:moveTo>
                <a:cubicBezTo>
                  <a:pt x="950975" y="1408176"/>
                  <a:pt x="3785616" y="1426463"/>
                  <a:pt x="5001768" y="740663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923544" y="4517136"/>
            <a:ext cx="3648456" cy="950976"/>
          </a:xfrm>
          <a:custGeom>
            <a:avLst/>
            <a:gdLst/>
            <a:ahLst/>
            <a:cxnLst/>
            <a:rect l="l" t="t" r="r" b="b"/>
            <a:pathLst>
              <a:path w="3648456" h="950976">
                <a:moveTo>
                  <a:pt x="0" y="0"/>
                </a:moveTo>
                <a:cubicBezTo>
                  <a:pt x="493776" y="694943"/>
                  <a:pt x="2368296" y="950976"/>
                  <a:pt x="3648456" y="740663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6766560" y="3456432"/>
            <a:ext cx="274320" cy="822960"/>
          </a:xfrm>
          <a:custGeom>
            <a:avLst/>
            <a:gdLst/>
            <a:ahLst/>
            <a:cxnLst/>
            <a:rect l="l" t="t" r="r" b="b"/>
            <a:pathLst>
              <a:path w="274319" h="822959">
                <a:moveTo>
                  <a:pt x="0" y="822959"/>
                </a:moveTo>
                <a:cubicBezTo>
                  <a:pt x="146303" y="731520"/>
                  <a:pt x="164591" y="182880"/>
                  <a:pt x="274319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6766560" y="2395728"/>
            <a:ext cx="274320" cy="530352"/>
          </a:xfrm>
          <a:custGeom>
            <a:avLst/>
            <a:gdLst/>
            <a:ahLst/>
            <a:cxnLst/>
            <a:rect l="l" t="t" r="r" b="b"/>
            <a:pathLst>
              <a:path w="274319" h="530352">
                <a:moveTo>
                  <a:pt x="0" y="0"/>
                </a:moveTo>
                <a:cubicBezTo>
                  <a:pt x="146303" y="73152"/>
                  <a:pt x="164591" y="365759"/>
                  <a:pt x="274319" y="530352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4590288" y="2926080"/>
            <a:ext cx="2450592" cy="356616"/>
          </a:xfrm>
          <a:custGeom>
            <a:avLst/>
            <a:gdLst/>
            <a:ahLst/>
            <a:cxnLst/>
            <a:rect l="l" t="t" r="r" b="b"/>
            <a:pathLst>
              <a:path w="2450592" h="356615">
                <a:moveTo>
                  <a:pt x="0" y="356615"/>
                </a:moveTo>
                <a:cubicBezTo>
                  <a:pt x="731520" y="18288"/>
                  <a:pt x="1645920" y="0"/>
                  <a:pt x="2450592" y="265176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280160" y="3401568"/>
            <a:ext cx="2121408" cy="768095"/>
          </a:xfrm>
          <a:custGeom>
            <a:avLst/>
            <a:gdLst/>
            <a:ahLst/>
            <a:cxnLst/>
            <a:rect l="l" t="t" r="r" b="b"/>
            <a:pathLst>
              <a:path w="2121408" h="768095">
                <a:moveTo>
                  <a:pt x="0" y="768095"/>
                </a:moveTo>
                <a:cubicBezTo>
                  <a:pt x="640080" y="694944"/>
                  <a:pt x="1325880" y="182879"/>
                  <a:pt x="2121408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280160" y="2505456"/>
            <a:ext cx="2121408" cy="713232"/>
          </a:xfrm>
          <a:custGeom>
            <a:avLst/>
            <a:gdLst/>
            <a:ahLst/>
            <a:cxnLst/>
            <a:rect l="l" t="t" r="r" b="b"/>
            <a:pathLst>
              <a:path w="2121408" h="713231">
                <a:moveTo>
                  <a:pt x="0" y="0"/>
                </a:moveTo>
                <a:cubicBezTo>
                  <a:pt x="640080" y="36575"/>
                  <a:pt x="1325880" y="512063"/>
                  <a:pt x="2121408" y="713231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955279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GraphResidualBlock · local graph attention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1392" y="1536192"/>
            <a:ext cx="301752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1627632"/>
            <a:ext cx="2651760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What changes inside one block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57984"/>
            <a:ext cx="713232" cy="47548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
B×Cin×N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231136"/>
            <a:ext cx="50292" cy="32918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72768" y="2057400"/>
            <a:ext cx="1143000" cy="65836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Dynamic KNN
feature space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72768" y="2130552"/>
            <a:ext cx="50292" cy="512063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99232" y="2057400"/>
            <a:ext cx="1261872" cy="65836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0">
                <a:solidFill>
                  <a:srgbClr val="252F40"/>
                </a:solidFill>
                <a:latin typeface="Microsoft YaHei"/>
              </a:rPr>
              <a:t>Graph feature
[fj-fi, fi]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99232" y="2130552"/>
            <a:ext cx="50292" cy="512063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44568" y="2057400"/>
            <a:ext cx="1188720" cy="65836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EdgeConv_f
→ Fk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44568" y="2130552"/>
            <a:ext cx="50292" cy="512063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016752" y="2057400"/>
            <a:ext cx="749808" cy="658368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V
Wv(Fk)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041648"/>
            <a:ext cx="713232" cy="47548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
B×4×N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114800"/>
            <a:ext cx="50292" cy="329184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572768" y="3941063"/>
            <a:ext cx="1143000" cy="65836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Coordinate KNN
computed once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72768" y="4014215"/>
            <a:ext cx="50292" cy="512063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99232" y="3941063"/>
            <a:ext cx="1261872" cy="65836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0">
                <a:solidFill>
                  <a:srgbClr val="252F40"/>
                </a:solidFill>
                <a:latin typeface="Microsoft YaHei"/>
              </a:rPr>
              <a:t>Cached p_graph
[pj-pi, pi]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99232" y="4014215"/>
            <a:ext cx="50292" cy="512063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44568" y="3941063"/>
            <a:ext cx="1188720" cy="65836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EdgeConv_p
→ Pk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44568" y="4014215"/>
            <a:ext cx="50292" cy="512063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16752" y="3941063"/>
            <a:ext cx="749808" cy="658368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K
Wk(Pk)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01568" y="3017520"/>
            <a:ext cx="1188720" cy="530352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Q = Wq([f,p])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01568" y="3090672"/>
            <a:ext cx="50292" cy="384047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040880" y="2688336"/>
            <a:ext cx="1225296" cy="100584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40" b="1">
                <a:solidFill>
                  <a:srgbClr val="252F40"/>
                </a:solidFill>
                <a:latin typeface="Microsoft YaHei"/>
              </a:rPr>
              <a:t>Local attention
softmax over k
Σ weight·V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2761488"/>
            <a:ext cx="50292" cy="85953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967728" y="4160520"/>
            <a:ext cx="1298448" cy="47548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0">
                <a:solidFill>
                  <a:srgbClr val="252F40"/>
                </a:solidFill>
                <a:latin typeface="Microsoft YaHei"/>
              </a:rPr>
              <a:t>Output mapping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67728" y="4233672"/>
            <a:ext cx="50292" cy="329184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72000" y="5010912"/>
            <a:ext cx="1115568" cy="49377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0">
                <a:solidFill>
                  <a:srgbClr val="252F40"/>
                </a:solidFill>
                <a:latin typeface="Microsoft YaHei"/>
              </a:rPr>
              <a:t>coord_gate(p)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5084064"/>
            <a:ext cx="50292" cy="34747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925312" y="5010912"/>
            <a:ext cx="1115568" cy="49377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0">
                <a:solidFill>
                  <a:srgbClr val="252F40"/>
                </a:solidFill>
                <a:latin typeface="Microsoft YaHei"/>
              </a:rPr>
              <a:t>coord_res(p)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25312" y="5084064"/>
            <a:ext cx="50292" cy="34747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278624" y="4965192"/>
            <a:ext cx="987552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Gated fusion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78624" y="5038344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278624" y="5687568"/>
            <a:ext cx="987552" cy="43891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Act → f_out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78624" y="5760720"/>
            <a:ext cx="50292" cy="292607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280160" y="2395728"/>
            <a:ext cx="292608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715768" y="2395728"/>
            <a:ext cx="283464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261104" y="2395728"/>
            <a:ext cx="283464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33288" y="2395728"/>
            <a:ext cx="283464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280160" y="4279392"/>
            <a:ext cx="292608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715768" y="4279392"/>
            <a:ext cx="283464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261104" y="4279392"/>
            <a:ext cx="283464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33288" y="4279392"/>
            <a:ext cx="283464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53527" y="3694176"/>
            <a:ext cx="0" cy="466344"/>
          </a:xfrm>
          <a:prstGeom prst="line">
            <a:avLst/>
          </a:prstGeom>
          <a:ln w="1714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616952" y="4636008"/>
            <a:ext cx="0" cy="329184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2400" y="5550408"/>
            <a:ext cx="0" cy="13716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098280" y="1975104"/>
            <a:ext cx="932688" cy="29260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252F40"/>
                </a:solidFill>
                <a:latin typeface="Microsoft YaHei"/>
              </a:rPr>
              <a:t>FEATURE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168128" y="1975104"/>
            <a:ext cx="1143000" cy="29260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252F40"/>
                </a:solidFill>
                <a:latin typeface="Microsoft YaHei"/>
              </a:rPr>
              <a:t>GEOMETRY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98280" y="2377440"/>
            <a:ext cx="2487168" cy="7132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19" b="0">
                <a:solidFill>
                  <a:srgbClr val="252F40"/>
                </a:solidFill>
                <a:latin typeface="Microsoft YaHei"/>
              </a:rPr>
              <a:t>Two EdgeConv streams
Feature graph is dynamic; coordinate graph is cached.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98280" y="3246120"/>
            <a:ext cx="2487168" cy="749808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0" b="0">
                <a:solidFill>
                  <a:srgbClr val="252F40"/>
                </a:solidFill>
                <a:latin typeface="Microsoft YaHei"/>
              </a:rPr>
              <a:t>Q: [f,p]
K: physical edge features
V: semantic edge features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98280" y="3319272"/>
            <a:ext cx="50292" cy="603503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098280" y="4224528"/>
            <a:ext cx="2487168" cy="749808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gate·mapped
+ (1-gate)·coord_info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98280" y="4297680"/>
            <a:ext cx="50292" cy="603503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098280" y="5193792"/>
            <a:ext cx="2487168" cy="749808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0">
                <a:solidFill>
                  <a:srgbClr val="252F40"/>
                </a:solidFill>
                <a:latin typeface="Microsoft YaHei"/>
              </a:rPr>
              <a:t>No point downsampling
N remains 1024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98280" y="5266944"/>
            <a:ext cx="50292" cy="603503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98280" y="6035040"/>
            <a:ext cx="2487168" cy="18288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50" b="1">
                <a:solidFill>
                  <a:srgbClr val="12213A"/>
                </a:solidFill>
                <a:latin typeface="Microsoft YaHei"/>
              </a:rPr>
              <a:t>1.058M params with centroid 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GraphResidual-GCN · Formal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双图 GraphSAGE · SE · 受控双残差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 / Centroid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83210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7415783" y="4480560"/>
            <a:ext cx="466344" cy="539496"/>
          </a:xfrm>
          <a:custGeom>
            <a:avLst/>
            <a:gdLst/>
            <a:ahLst/>
            <a:cxnLst/>
            <a:rect l="l" t="t" r="r" b="b"/>
            <a:pathLst>
              <a:path w="466343" h="539495">
                <a:moveTo>
                  <a:pt x="0" y="539495"/>
                </a:moveTo>
                <a:cubicBezTo>
                  <a:pt x="374904" y="365759"/>
                  <a:pt x="466343" y="128015"/>
                  <a:pt x="356616" y="0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547104" y="5349240"/>
            <a:ext cx="283464" cy="118872"/>
          </a:xfrm>
          <a:custGeom>
            <a:avLst/>
            <a:gdLst/>
            <a:ahLst/>
            <a:cxnLst/>
            <a:rect l="l" t="t" r="r" b="b"/>
            <a:pathLst>
              <a:path w="283463" h="118872">
                <a:moveTo>
                  <a:pt x="0" y="0"/>
                </a:moveTo>
                <a:cubicBezTo>
                  <a:pt x="91439" y="27432"/>
                  <a:pt x="182880" y="82296"/>
                  <a:pt x="283463" y="118872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4663440" y="4754880"/>
            <a:ext cx="2167128" cy="594360"/>
          </a:xfrm>
          <a:custGeom>
            <a:avLst/>
            <a:gdLst/>
            <a:ahLst/>
            <a:cxnLst/>
            <a:rect l="l" t="t" r="r" b="b"/>
            <a:pathLst>
              <a:path w="2167128" h="594359">
                <a:moveTo>
                  <a:pt x="0" y="594359"/>
                </a:moveTo>
                <a:cubicBezTo>
                  <a:pt x="566928" y="36576"/>
                  <a:pt x="1572768" y="0"/>
                  <a:pt x="2167128" y="438911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923544" y="4370832"/>
            <a:ext cx="4818888" cy="1527048"/>
          </a:xfrm>
          <a:custGeom>
            <a:avLst/>
            <a:gdLst/>
            <a:ahLst/>
            <a:cxnLst/>
            <a:rect l="l" t="t" r="r" b="b"/>
            <a:pathLst>
              <a:path w="4818888" h="1527048">
                <a:moveTo>
                  <a:pt x="0" y="0"/>
                </a:moveTo>
                <a:cubicBezTo>
                  <a:pt x="1042415" y="1527048"/>
                  <a:pt x="3328416" y="1527048"/>
                  <a:pt x="4818888" y="704087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923544" y="4370832"/>
            <a:ext cx="3200400" cy="704088"/>
          </a:xfrm>
          <a:custGeom>
            <a:avLst/>
            <a:gdLst/>
            <a:ahLst/>
            <a:cxnLst/>
            <a:rect l="l" t="t" r="r" b="b"/>
            <a:pathLst>
              <a:path w="3200400" h="704087">
                <a:moveTo>
                  <a:pt x="0" y="0"/>
                </a:moveTo>
                <a:cubicBezTo>
                  <a:pt x="676656" y="274319"/>
                  <a:pt x="2048256" y="274319"/>
                  <a:pt x="3200400" y="704087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841248" y="2578608"/>
            <a:ext cx="822960" cy="2770632"/>
          </a:xfrm>
          <a:custGeom>
            <a:avLst/>
            <a:gdLst/>
            <a:ahLst/>
            <a:cxnLst/>
            <a:rect l="l" t="t" r="r" b="b"/>
            <a:pathLst>
              <a:path w="822960" h="2770632">
                <a:moveTo>
                  <a:pt x="82295" y="0"/>
                </a:moveTo>
                <a:cubicBezTo>
                  <a:pt x="0" y="941832"/>
                  <a:pt x="118872" y="2404872"/>
                  <a:pt x="822960" y="2770632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955279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GraphResidualBlockGCN · non-legacy forward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1392" y="1536192"/>
            <a:ext cx="301752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1627632"/>
            <a:ext cx="2651760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Frozen formal configuration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713232" cy="47548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2918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72768" y="2002536"/>
            <a:ext cx="1078992" cy="65836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Feature KNN
per block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72768" y="2075688"/>
            <a:ext cx="50292" cy="512063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07792" y="2002536"/>
            <a:ext cx="1115568" cy="65836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30" b="1">
                <a:solidFill>
                  <a:srgbClr val="252F40"/>
                </a:solidFill>
                <a:latin typeface="Microsoft YaHei"/>
              </a:rPr>
              <a:t>SAGEConv_f
AGG=max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07792" y="2075688"/>
            <a:ext cx="50292" cy="512063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0" y="2002536"/>
            <a:ext cx="960120" cy="65836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30" b="0">
                <a:solidFill>
                  <a:srgbClr val="252F40"/>
                </a:solidFill>
                <a:latin typeface="Microsoft YaHei"/>
              </a:rPr>
              <a:t>BN + 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32120" y="1947672"/>
            <a:ext cx="1097280" cy="76809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SE gate
GAP→MLP→σ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2020824"/>
            <a:ext cx="50292" cy="62179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" y="3895344"/>
            <a:ext cx="713232" cy="47548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968496"/>
            <a:ext cx="50292" cy="329184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572768" y="3794760"/>
            <a:ext cx="1078992" cy="65836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Coordinate KNN
cached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72768" y="3867912"/>
            <a:ext cx="50292" cy="512063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07792" y="3794760"/>
            <a:ext cx="1115568" cy="65836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30" b="1">
                <a:solidFill>
                  <a:srgbClr val="252F40"/>
                </a:solidFill>
                <a:latin typeface="Microsoft YaHei"/>
              </a:rPr>
              <a:t>SAGEConv_p
4→Cout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07792" y="3867912"/>
            <a:ext cx="50292" cy="512063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97680" y="3794760"/>
            <a:ext cx="960120" cy="65836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30" b="0">
                <a:solidFill>
                  <a:srgbClr val="252F40"/>
                </a:solidFill>
                <a:latin typeface="Microsoft YaHei"/>
              </a:rPr>
              <a:t>BN + Act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03720" y="2743200"/>
            <a:ext cx="658368" cy="658368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Cat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2816352"/>
            <a:ext cx="50292" cy="512063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72400" y="2743200"/>
            <a:ext cx="603504" cy="658368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Fuse
2C→C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3895344"/>
            <a:ext cx="1243584" cy="585216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residuals
→ Act → f_out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968496"/>
            <a:ext cx="50292" cy="43891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664208" y="5074920"/>
            <a:ext cx="1444752" cy="54864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0">
                <a:solidFill>
                  <a:srgbClr val="252F40"/>
                </a:solidFill>
                <a:latin typeface="Microsoft YaHei"/>
              </a:rPr>
              <a:t>feature residual
Identity / projection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64208" y="5148072"/>
            <a:ext cx="50292" cy="402335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584448" y="5074920"/>
            <a:ext cx="1078992" cy="54864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0">
                <a:solidFill>
                  <a:srgbClr val="252F40"/>
                </a:solidFill>
                <a:latin typeface="Microsoft YaHei"/>
              </a:rPr>
              <a:t>coord_gate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5148072"/>
            <a:ext cx="50292" cy="402335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937760" y="5074920"/>
            <a:ext cx="1609344" cy="54864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0">
                <a:solidFill>
                  <a:srgbClr val="252F40"/>
                </a:solidFill>
                <a:latin typeface="Microsoft YaHei"/>
              </a:rPr>
              <a:t>coord_res + encoder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5148072"/>
            <a:ext cx="50292" cy="402335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830568" y="5020056"/>
            <a:ext cx="1170432" cy="658368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1">
                <a:solidFill>
                  <a:srgbClr val="252F40"/>
                </a:solidFill>
                <a:latin typeface="Microsoft YaHei"/>
              </a:rPr>
              <a:t>gate × sum
× coord_scale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30568" y="5093208"/>
            <a:ext cx="50292" cy="512063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2" y="5907024"/>
            <a:ext cx="6400800" cy="201168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80" b="1">
                <a:solidFill>
                  <a:srgbClr val="12213A"/>
                </a:solidFill>
                <a:latin typeface="Microsoft YaHei"/>
              </a:rPr>
              <a:t>PyG message flow:  neighbor/source j  ─────────▶  center/target i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280160" y="2340864"/>
            <a:ext cx="292608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651760" y="2340864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023360" y="2340864"/>
            <a:ext cx="274320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257800" y="2340864"/>
            <a:ext cx="274320" cy="0"/>
          </a:xfrm>
          <a:prstGeom prst="line">
            <a:avLst/>
          </a:prstGeom>
          <a:ln w="17145">
            <a:solidFill>
              <a:srgbClr val="7047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80160" y="4133087"/>
            <a:ext cx="292608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651760" y="4133087"/>
            <a:ext cx="256032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023360" y="4133087"/>
            <a:ext cx="274320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629400" y="2331720"/>
            <a:ext cx="118872" cy="0"/>
          </a:xfrm>
          <a:prstGeom prst="line">
            <a:avLst/>
          </a:prstGeom>
          <a:ln w="17145">
            <a:solidFill>
              <a:srgbClr val="7047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748272" y="2331720"/>
            <a:ext cx="0" cy="630936"/>
          </a:xfrm>
          <a:prstGeom prst="line">
            <a:avLst/>
          </a:prstGeom>
          <a:ln w="17145">
            <a:solidFill>
              <a:srgbClr val="7047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48272" y="2962656"/>
            <a:ext cx="155448" cy="0"/>
          </a:xfrm>
          <a:prstGeom prst="line">
            <a:avLst/>
          </a:prstGeom>
          <a:ln w="17145">
            <a:solidFill>
              <a:srgbClr val="7047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257800" y="4133087"/>
            <a:ext cx="1490472" cy="0"/>
          </a:xfrm>
          <a:prstGeom prst="line">
            <a:avLst/>
          </a:prstGeom>
          <a:ln w="17145">
            <a:solidFill>
              <a:srgbClr val="0096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748272" y="3182112"/>
            <a:ext cx="0" cy="950975"/>
          </a:xfrm>
          <a:prstGeom prst="line">
            <a:avLst/>
          </a:prstGeom>
          <a:ln w="17145">
            <a:solidFill>
              <a:srgbClr val="0096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748272" y="3182112"/>
            <a:ext cx="155448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562088" y="3072384"/>
            <a:ext cx="210312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74152" y="3401568"/>
            <a:ext cx="0" cy="493776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108960" y="5349240"/>
            <a:ext cx="137160" cy="0"/>
          </a:xfrm>
          <a:prstGeom prst="line">
            <a:avLst/>
          </a:prstGeom>
          <a:ln w="17145">
            <a:solidFill>
              <a:srgbClr val="7047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246120" y="4681728"/>
            <a:ext cx="0" cy="667512"/>
          </a:xfrm>
          <a:prstGeom prst="line">
            <a:avLst/>
          </a:prstGeom>
          <a:ln w="17145">
            <a:solidFill>
              <a:srgbClr val="7047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246120" y="4681728"/>
            <a:ext cx="3657600" cy="0"/>
          </a:xfrm>
          <a:prstGeom prst="line">
            <a:avLst/>
          </a:prstGeom>
          <a:ln w="17145">
            <a:solidFill>
              <a:srgbClr val="7047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903720" y="4187952"/>
            <a:ext cx="0" cy="493776"/>
          </a:xfrm>
          <a:prstGeom prst="line">
            <a:avLst/>
          </a:prstGeom>
          <a:ln w="17145">
            <a:solidFill>
              <a:srgbClr val="7047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903720" y="4187952"/>
            <a:ext cx="228600" cy="0"/>
          </a:xfrm>
          <a:prstGeom prst="line">
            <a:avLst/>
          </a:prstGeom>
          <a:ln w="17145">
            <a:solidFill>
              <a:srgbClr val="7047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9098280" y="1920240"/>
            <a:ext cx="2487168" cy="65836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40" b="1">
                <a:solidFill>
                  <a:srgbClr val="252F40"/>
                </a:solidFill>
                <a:latin typeface="Microsoft YaHei"/>
              </a:rPr>
              <a:t>k=20 · AGG=max
exclude_self=true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98280" y="1993392"/>
            <a:ext cx="50292" cy="512063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098280" y="2770632"/>
            <a:ext cx="2487168" cy="658368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30" b="0">
                <a:solidFill>
                  <a:srgbClr val="252F40"/>
                </a:solidFill>
                <a:latin typeface="Microsoft YaHei"/>
              </a:rPr>
              <a:t>feature residual=true
coord_scale_init=0.1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98280" y="2843784"/>
            <a:ext cx="50292" cy="512063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098280" y="3621024"/>
            <a:ext cx="2487168" cy="65836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30" b="0">
                <a:solidFill>
                  <a:srgbClr val="252F40"/>
                </a:solidFill>
                <a:latin typeface="Microsoft YaHei"/>
              </a:rPr>
              <a:t>gradient checkpoint=true
legacy mode=false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98280" y="3694176"/>
            <a:ext cx="50292" cy="51206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098280" y="4471416"/>
            <a:ext cx="2487168" cy="749808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0" b="0">
                <a:solidFill>
                  <a:srgbClr val="252F40"/>
                </a:solidFill>
                <a:latin typeface="Microsoft YaHei"/>
              </a:rPr>
              <a:t>MLP head: pooled→3
Centroid: point feats + xyz→3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98280" y="4544568"/>
            <a:ext cx="50292" cy="603503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098280" y="5413248"/>
            <a:ext cx="2487168" cy="60350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1.101M · centroid head
1.332M · MLP head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098280" y="5486400"/>
            <a:ext cx="50292" cy="4572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GraphResidual-GCN ·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B0–B7 硬结构消融 · B8 参数匹配算子对照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model/graph_res_GCN_ablation.py · scripts/ablation_registry.py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Controlled Blocks ×4
full-width topology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 / Centroid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804672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6949440" y="3474720"/>
            <a:ext cx="932687" cy="1856232"/>
          </a:xfrm>
          <a:custGeom>
            <a:avLst/>
            <a:gdLst/>
            <a:ahLst/>
            <a:cxnLst/>
            <a:rect l="l" t="t" r="r" b="b"/>
            <a:pathLst>
              <a:path w="932687" h="1856232">
                <a:moveTo>
                  <a:pt x="493776" y="1856232"/>
                </a:moveTo>
                <a:cubicBezTo>
                  <a:pt x="932687" y="1316736"/>
                  <a:pt x="777239" y="530352"/>
                  <a:pt x="0" y="0"/>
                </a:cubicBezTo>
              </a:path>
            </a:pathLst>
          </a:custGeom>
          <a:noFill/>
          <a:ln w="1841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5705856" y="5285232"/>
            <a:ext cx="402336" cy="45720"/>
          </a:xfrm>
          <a:custGeom>
            <a:avLst/>
            <a:gdLst/>
            <a:ahLst/>
            <a:cxnLst/>
            <a:rect l="l" t="t" r="r" b="b"/>
            <a:pathLst>
              <a:path w="402335" h="45719">
                <a:moveTo>
                  <a:pt x="0" y="45719"/>
                </a:moveTo>
                <a:cubicBezTo>
                  <a:pt x="128015" y="0"/>
                  <a:pt x="274319" y="0"/>
                  <a:pt x="402335" y="45719"/>
                </a:cubicBezTo>
              </a:path>
            </a:pathLst>
          </a:custGeom>
          <a:noFill/>
          <a:ln w="1841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96112" y="4352544"/>
            <a:ext cx="3794760" cy="694944"/>
          </a:xfrm>
          <a:custGeom>
            <a:avLst/>
            <a:gdLst/>
            <a:ahLst/>
            <a:cxnLst/>
            <a:rect l="l" t="t" r="r" b="b"/>
            <a:pathLst>
              <a:path w="3794760" h="694943">
                <a:moveTo>
                  <a:pt x="0" y="0"/>
                </a:moveTo>
                <a:cubicBezTo>
                  <a:pt x="768096" y="694943"/>
                  <a:pt x="2688336" y="292608"/>
                  <a:pt x="3794760" y="603504"/>
                </a:cubicBezTo>
              </a:path>
            </a:pathLst>
          </a:custGeom>
          <a:noFill/>
          <a:ln w="1841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236976" y="3346704"/>
            <a:ext cx="3328416" cy="1984248"/>
          </a:xfrm>
          <a:custGeom>
            <a:avLst/>
            <a:gdLst/>
            <a:ahLst/>
            <a:cxnLst/>
            <a:rect l="l" t="t" r="r" b="b"/>
            <a:pathLst>
              <a:path w="3328415" h="1984248">
                <a:moveTo>
                  <a:pt x="0" y="1984248"/>
                </a:moveTo>
                <a:cubicBezTo>
                  <a:pt x="832104" y="1883663"/>
                  <a:pt x="2048256" y="402335"/>
                  <a:pt x="3328415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68096" y="2560320"/>
            <a:ext cx="896112" cy="2770632"/>
          </a:xfrm>
          <a:custGeom>
            <a:avLst/>
            <a:gdLst/>
            <a:ahLst/>
            <a:cxnLst/>
            <a:rect l="l" t="t" r="r" b="b"/>
            <a:pathLst>
              <a:path w="896112" h="2770632">
                <a:moveTo>
                  <a:pt x="128016" y="0"/>
                </a:moveTo>
                <a:cubicBezTo>
                  <a:pt x="0" y="1051560"/>
                  <a:pt x="128016" y="2487168"/>
                  <a:pt x="896112" y="2770632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680960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Controlled block · red dashed = hard removal · B8 changes operator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7072" y="1536192"/>
            <a:ext cx="3291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9952" y="1627632"/>
            <a:ext cx="2926080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Factor matrix · MLP · λobj=0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658368" cy="45720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1089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81328" y="1993392"/>
            <a:ext cx="1234440" cy="676656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Feature KNN
+ local op_f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2066544"/>
            <a:ext cx="50292" cy="5303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99232" y="1993392"/>
            <a:ext cx="1115568" cy="67665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40" b="1">
                <a:solidFill>
                  <a:srgbClr val="252F40"/>
                </a:solidFill>
                <a:latin typeface="Microsoft YaHei"/>
              </a:rPr>
              <a:t>SE gate
optional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99232" y="2066544"/>
            <a:ext cx="50292" cy="53035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895344"/>
            <a:ext cx="658368" cy="45720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68496"/>
            <a:ext cx="50292" cy="31089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81328" y="3785615"/>
            <a:ext cx="1234440" cy="67665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Coordinate KNN
+ local op_p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3858768"/>
            <a:ext cx="50292" cy="53035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999232" y="3785615"/>
            <a:ext cx="1115568" cy="67665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Physical branch
optional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232" y="3858768"/>
            <a:ext cx="50292" cy="53035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98848" y="2798064"/>
            <a:ext cx="804672" cy="67665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Cat /
feature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98848" y="2871216"/>
            <a:ext cx="50292" cy="53035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577840" y="2798064"/>
            <a:ext cx="694944" cy="67665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40" b="1">
                <a:solidFill>
                  <a:srgbClr val="252F40"/>
                </a:solidFill>
                <a:latin typeface="Microsoft YaHei"/>
              </a:rPr>
              <a:t>Fuse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2871216"/>
            <a:ext cx="50292" cy="53035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65392" y="2798064"/>
            <a:ext cx="768096" cy="676656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+ 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65392" y="2871216"/>
            <a:ext cx="50292" cy="53035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571231" y="2798064"/>
            <a:ext cx="530352" cy="676656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f_out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64208" y="5047488"/>
            <a:ext cx="1572768" cy="566928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feature residual
existing CLI toggle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64208" y="5120640"/>
            <a:ext cx="50292" cy="420623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675887" y="4956048"/>
            <a:ext cx="2029968" cy="749808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1">
                <a:solidFill>
                  <a:srgbClr val="252F40"/>
                </a:solidFill>
                <a:latin typeface="Microsoft YaHei"/>
              </a:rPr>
              <a:t>coordinate residual group
coord_gate + coord_res + encoder
optional hard removal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75887" y="5029200"/>
            <a:ext cx="50292" cy="603503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108192" y="5047488"/>
            <a:ext cx="1335024" cy="566928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coord_scale × delta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5120640"/>
            <a:ext cx="50292" cy="420623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225296" y="2331720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15768" y="2331720"/>
            <a:ext cx="283464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114800" y="2331720"/>
            <a:ext cx="201168" cy="0"/>
          </a:xfrm>
          <a:prstGeom prst="line">
            <a:avLst/>
          </a:prstGeom>
          <a:ln w="17145">
            <a:solidFill>
              <a:srgbClr val="DD43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15968" y="2331720"/>
            <a:ext cx="0" cy="667512"/>
          </a:xfrm>
          <a:prstGeom prst="line">
            <a:avLst/>
          </a:prstGeom>
          <a:ln w="17145">
            <a:solidFill>
              <a:srgbClr val="DD43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315968" y="2999232"/>
            <a:ext cx="182880" cy="0"/>
          </a:xfrm>
          <a:prstGeom prst="line">
            <a:avLst/>
          </a:prstGeom>
          <a:ln w="17145">
            <a:solidFill>
              <a:srgbClr val="DD434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225296" y="4123944"/>
            <a:ext cx="256032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715768" y="4123944"/>
            <a:ext cx="283464" cy="0"/>
          </a:xfrm>
          <a:prstGeom prst="line">
            <a:avLst/>
          </a:prstGeom>
          <a:ln w="17145">
            <a:solidFill>
              <a:srgbClr val="DD434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114800" y="4123944"/>
            <a:ext cx="201168" cy="0"/>
          </a:xfrm>
          <a:prstGeom prst="line">
            <a:avLst/>
          </a:prstGeom>
          <a:ln w="17145">
            <a:solidFill>
              <a:srgbClr val="DD43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315968" y="3273552"/>
            <a:ext cx="0" cy="850392"/>
          </a:xfrm>
          <a:prstGeom prst="line">
            <a:avLst/>
          </a:prstGeom>
          <a:ln w="17145">
            <a:solidFill>
              <a:srgbClr val="DD43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315968" y="3273552"/>
            <a:ext cx="182880" cy="0"/>
          </a:xfrm>
          <a:prstGeom prst="line">
            <a:avLst/>
          </a:prstGeom>
          <a:ln w="17145">
            <a:solidFill>
              <a:srgbClr val="DD434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303520" y="3136392"/>
            <a:ext cx="274320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272784" y="3136392"/>
            <a:ext cx="292608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333488" y="3136392"/>
            <a:ext cx="237743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796528" y="1856231"/>
            <a:ext cx="402336" cy="22860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697487"/>
                </a:solidFill>
                <a:latin typeface="Microsoft YaHei"/>
              </a:rPr>
              <a:t>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1856231"/>
            <a:ext cx="1481328" cy="22860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697487"/>
                </a:solidFill>
                <a:latin typeface="Microsoft YaHei"/>
              </a:rPr>
              <a:t>Change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71632" y="1856231"/>
            <a:ext cx="841248" cy="22860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697487"/>
                </a:solidFill>
                <a:latin typeface="Microsoft YaHei"/>
              </a:rPr>
              <a:t>Measures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96528" y="2103120"/>
            <a:ext cx="420624" cy="384048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81160" y="2103120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Full structure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281160" y="2176272"/>
            <a:ext cx="50292" cy="23774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753344" y="2103120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reference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96528" y="2532887"/>
            <a:ext cx="420624" cy="384048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281160" y="2532887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No physical branch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81160" y="2606039"/>
            <a:ext cx="50292" cy="237744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753344" y="2532887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dual graph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96528" y="2962655"/>
            <a:ext cx="420624" cy="384048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281160" y="2962655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No 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81160" y="3035807"/>
            <a:ext cx="50292" cy="237744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753344" y="2962655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channel gate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796528" y="3392423"/>
            <a:ext cx="420624" cy="384048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B3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281160" y="3392423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No coord residual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81160" y="3465575"/>
            <a:ext cx="50292" cy="237744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753344" y="3392423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coordinate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96528" y="3822191"/>
            <a:ext cx="420624" cy="38404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B4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281160" y="3822191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mean aggregation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281160" y="3895343"/>
            <a:ext cx="50292" cy="23774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753344" y="3822191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aggregator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796528" y="4251959"/>
            <a:ext cx="420624" cy="38404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B5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281160" y="4251959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Include self in KNN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81160" y="4325111"/>
            <a:ext cx="50292" cy="237744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753344" y="4251959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root repeat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796528" y="4681727"/>
            <a:ext cx="420624" cy="384048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B6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281160" y="4681727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No feature residual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81160" y="4754879"/>
            <a:ext cx="50292" cy="237744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753344" y="4681727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residual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796528" y="5111495"/>
            <a:ext cx="420624" cy="384048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B7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281160" y="5111495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No explicit coord paths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81160" y="5184647"/>
            <a:ext cx="50292" cy="237744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0753344" y="5111495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interaction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796528" y="5541263"/>
            <a:ext cx="420624" cy="38404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252F40"/>
                </a:solidFill>
                <a:latin typeface="Microsoft YaHei"/>
              </a:rPr>
              <a:t>B8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281160" y="5541263"/>
            <a:ext cx="140817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740" b="0">
                <a:solidFill>
                  <a:srgbClr val="252F40"/>
                </a:solidFill>
                <a:latin typeface="Microsoft YaHei"/>
              </a:rPr>
              <a:t>EdgeCNN replaces SAGE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281160" y="5614415"/>
            <a:ext cx="50292" cy="23774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753344" y="5541263"/>
            <a:ext cx="859536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20" b="0">
                <a:solidFill>
                  <a:srgbClr val="252F40"/>
                </a:solidFill>
                <a:latin typeface="Microsoft YaHei"/>
              </a:rPr>
              <a:t>operator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96528" y="6062472"/>
            <a:ext cx="2788920" cy="16459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720" b="1">
                <a:solidFill>
                  <a:srgbClr val="12213A"/>
                </a:solidFill>
                <a:latin typeface="Microsoft YaHei"/>
              </a:rPr>
              <a:t>B0–B7: structural · B8: parameter-matched operator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B1 · 关闭坐标图分支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B1 · 单因素结构消融 · MLP head · λ_obj=0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model/graph_res_GCN_ablation.py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Ablation 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7973568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022592" y="3456432"/>
            <a:ext cx="859535" cy="1901952"/>
          </a:xfrm>
          <a:custGeom>
            <a:avLst/>
            <a:gdLst/>
            <a:ahLst/>
            <a:cxnLst/>
            <a:rect l="l" t="t" r="r" b="b"/>
            <a:pathLst>
              <a:path w="859535" h="1901952">
                <a:moveTo>
                  <a:pt x="384047" y="1901952"/>
                </a:moveTo>
                <a:cubicBezTo>
                  <a:pt x="859535" y="1371600"/>
                  <a:pt x="731520" y="457200"/>
                  <a:pt x="0" y="0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669280" y="5321808"/>
            <a:ext cx="384048" cy="36576"/>
          </a:xfrm>
          <a:custGeom>
            <a:avLst/>
            <a:gdLst/>
            <a:ahLst/>
            <a:cxnLst/>
            <a:rect l="l" t="t" r="r" b="b"/>
            <a:pathLst>
              <a:path w="384047" h="36576">
                <a:moveTo>
                  <a:pt x="0" y="36576"/>
                </a:moveTo>
                <a:cubicBezTo>
                  <a:pt x="128015" y="0"/>
                  <a:pt x="256032" y="0"/>
                  <a:pt x="384047" y="36576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96112" y="4343400"/>
            <a:ext cx="3767328" cy="640080"/>
          </a:xfrm>
          <a:custGeom>
            <a:avLst/>
            <a:gdLst/>
            <a:ahLst/>
            <a:cxnLst/>
            <a:rect l="l" t="t" r="r" b="b"/>
            <a:pathLst>
              <a:path w="3767327" h="640080">
                <a:moveTo>
                  <a:pt x="0" y="0"/>
                </a:moveTo>
                <a:cubicBezTo>
                  <a:pt x="676656" y="640080"/>
                  <a:pt x="2578608" y="274319"/>
                  <a:pt x="3767327" y="612647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18688" y="3346704"/>
            <a:ext cx="3401568" cy="2011680"/>
          </a:xfrm>
          <a:custGeom>
            <a:avLst/>
            <a:gdLst/>
            <a:ahLst/>
            <a:cxnLst/>
            <a:rect l="l" t="t" r="r" b="b"/>
            <a:pathLst>
              <a:path w="3401568" h="2011680">
                <a:moveTo>
                  <a:pt x="0" y="2011680"/>
                </a:moveTo>
                <a:cubicBezTo>
                  <a:pt x="822959" y="1847087"/>
                  <a:pt x="2139696" y="384047"/>
                  <a:pt x="3401568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86384" y="2560320"/>
            <a:ext cx="786384" cy="2798064"/>
          </a:xfrm>
          <a:custGeom>
            <a:avLst/>
            <a:gdLst/>
            <a:ahLst/>
            <a:cxnLst/>
            <a:rect l="l" t="t" r="r" b="b"/>
            <a:pathLst>
              <a:path w="786384" h="2798064">
                <a:moveTo>
                  <a:pt x="109728" y="0"/>
                </a:moveTo>
                <a:cubicBezTo>
                  <a:pt x="0" y="1170432"/>
                  <a:pt x="173736" y="2514600"/>
                  <a:pt x="786384" y="2798064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328416" y="3246120"/>
            <a:ext cx="1225296" cy="868680"/>
          </a:xfrm>
          <a:custGeom>
            <a:avLst/>
            <a:gdLst/>
            <a:ahLst/>
            <a:cxnLst/>
            <a:rect l="l" t="t" r="r" b="b"/>
            <a:pathLst>
              <a:path w="1225296" h="868680">
                <a:moveTo>
                  <a:pt x="0" y="868680"/>
                </a:moveTo>
                <a:cubicBezTo>
                  <a:pt x="420623" y="594360"/>
                  <a:pt x="832103" y="228600"/>
                  <a:pt x="1225296" y="0"/>
                </a:cubicBezTo>
              </a:path>
            </a:pathLst>
          </a:custGeom>
          <a:noFill/>
          <a:ln w="1841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224528" y="2331720"/>
            <a:ext cx="329184" cy="658368"/>
          </a:xfrm>
          <a:custGeom>
            <a:avLst/>
            <a:gdLst/>
            <a:ahLst/>
            <a:cxnLst/>
            <a:rect l="l" t="t" r="r" b="b"/>
            <a:pathLst>
              <a:path w="329184" h="658368">
                <a:moveTo>
                  <a:pt x="0" y="0"/>
                </a:moveTo>
                <a:cubicBezTo>
                  <a:pt x="146304" y="155448"/>
                  <a:pt x="146304" y="594360"/>
                  <a:pt x="329184" y="658368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607808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Effective block structure · red dashed = physically absent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536192"/>
            <a:ext cx="336499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627632"/>
            <a:ext cx="2999232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Configuration and interpretation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658368" cy="45720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1089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81328" y="1993392"/>
            <a:ext cx="1353312" cy="676656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KNN
SAGEConv_f · max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2066544"/>
            <a:ext cx="50292" cy="5303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27248" y="1993392"/>
            <a:ext cx="1097280" cy="67665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SE gate
GAP→MLP→σ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66544"/>
            <a:ext cx="50292" cy="53035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886200"/>
            <a:ext cx="658368" cy="45720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59352"/>
            <a:ext cx="50292" cy="31089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81328" y="3749039"/>
            <a:ext cx="1847088" cy="731520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OFF
Coordinate KNN + SAGEConv_p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3822191"/>
            <a:ext cx="50292" cy="585216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53712" y="2761488"/>
            <a:ext cx="822960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50992" y="2761488"/>
            <a:ext cx="694944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Fuse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0256" y="2761488"/>
            <a:ext cx="804672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+ 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0256" y="2834640"/>
            <a:ext cx="50292" cy="5486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44383" y="2761488"/>
            <a:ext cx="457200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252F40"/>
                </a:solidFill>
                <a:latin typeface="Microsoft YaHei"/>
              </a:rPr>
              <a:t>f_out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72768" y="5065776"/>
            <a:ext cx="1645920" cy="58521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feature residual
Identity / projection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5138928"/>
            <a:ext cx="50292" cy="43891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4956048"/>
            <a:ext cx="2011680" cy="76809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coordinate residual group
coord_gate + coord_res + encoder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5029200"/>
            <a:ext cx="50292" cy="62179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53328" y="5065776"/>
            <a:ext cx="1353312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coord_scale × delta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3328" y="5138928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25296" y="2331720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834640" y="2331720"/>
            <a:ext cx="292608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25296" y="4114800"/>
            <a:ext cx="256032" cy="0"/>
          </a:xfrm>
          <a:prstGeom prst="line">
            <a:avLst/>
          </a:prstGeom>
          <a:ln w="1714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76672" y="3108960"/>
            <a:ext cx="274320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45936" y="3108960"/>
            <a:ext cx="274320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24927" y="3108960"/>
            <a:ext cx="219456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759952" y="1901952"/>
            <a:ext cx="2834640" cy="640080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唯一有效变化
physical branch = OFF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59952" y="1975104"/>
            <a:ext cx="50292" cy="493775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759952" y="2724912"/>
            <a:ext cx="2834640" cy="74980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研究问题
双图中的显式坐标 GraphSAGE 分支是否必要？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59952" y="2798064"/>
            <a:ext cx="50292" cy="60350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759952" y="3675887"/>
            <a:ext cx="2834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physical=false · SE=true
coord_res=true · feature_res=true
AGG=max · exclude_self=true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59952" y="3749039"/>
            <a:ext cx="50292" cy="65836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759952" y="4681728"/>
            <a:ext cx="2834640" cy="62179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MLP head · effective λ_obj=0
Parameters: 1,236,001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59952" y="4754880"/>
            <a:ext cx="50292" cy="47548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759952" y="5504688"/>
            <a:ext cx="2834640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19" b="0">
                <a:solidFill>
                  <a:srgbClr val="252F40"/>
                </a:solidFill>
                <a:latin typeface="Microsoft YaHei"/>
              </a:rPr>
              <a:t>仅移除 physical branch；SE、feature residual 与 coordinate residual 保留。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59952" y="5577840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B2 · 关闭 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B2 · 单因素结构消融 · MLP head · λ_obj=0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model/graph_res_GCN_ablation.py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Ablation 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7973568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022592" y="3456432"/>
            <a:ext cx="859535" cy="1901952"/>
          </a:xfrm>
          <a:custGeom>
            <a:avLst/>
            <a:gdLst/>
            <a:ahLst/>
            <a:cxnLst/>
            <a:rect l="l" t="t" r="r" b="b"/>
            <a:pathLst>
              <a:path w="859535" h="1901952">
                <a:moveTo>
                  <a:pt x="384047" y="1901952"/>
                </a:moveTo>
                <a:cubicBezTo>
                  <a:pt x="859535" y="1371600"/>
                  <a:pt x="731520" y="457200"/>
                  <a:pt x="0" y="0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669280" y="5321808"/>
            <a:ext cx="384048" cy="36576"/>
          </a:xfrm>
          <a:custGeom>
            <a:avLst/>
            <a:gdLst/>
            <a:ahLst/>
            <a:cxnLst/>
            <a:rect l="l" t="t" r="r" b="b"/>
            <a:pathLst>
              <a:path w="384047" h="36576">
                <a:moveTo>
                  <a:pt x="0" y="36576"/>
                </a:moveTo>
                <a:cubicBezTo>
                  <a:pt x="128015" y="0"/>
                  <a:pt x="256032" y="0"/>
                  <a:pt x="384047" y="36576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96112" y="4343400"/>
            <a:ext cx="3767328" cy="640080"/>
          </a:xfrm>
          <a:custGeom>
            <a:avLst/>
            <a:gdLst/>
            <a:ahLst/>
            <a:cxnLst/>
            <a:rect l="l" t="t" r="r" b="b"/>
            <a:pathLst>
              <a:path w="3767327" h="640080">
                <a:moveTo>
                  <a:pt x="0" y="0"/>
                </a:moveTo>
                <a:cubicBezTo>
                  <a:pt x="676656" y="640080"/>
                  <a:pt x="2578608" y="274319"/>
                  <a:pt x="3767327" y="612647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18688" y="3346704"/>
            <a:ext cx="3401568" cy="2011680"/>
          </a:xfrm>
          <a:custGeom>
            <a:avLst/>
            <a:gdLst/>
            <a:ahLst/>
            <a:cxnLst/>
            <a:rect l="l" t="t" r="r" b="b"/>
            <a:pathLst>
              <a:path w="3401568" h="2011680">
                <a:moveTo>
                  <a:pt x="0" y="2011680"/>
                </a:moveTo>
                <a:cubicBezTo>
                  <a:pt x="822959" y="1847087"/>
                  <a:pt x="2139696" y="384047"/>
                  <a:pt x="3401568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86384" y="2560320"/>
            <a:ext cx="786384" cy="2798064"/>
          </a:xfrm>
          <a:custGeom>
            <a:avLst/>
            <a:gdLst/>
            <a:ahLst/>
            <a:cxnLst/>
            <a:rect l="l" t="t" r="r" b="b"/>
            <a:pathLst>
              <a:path w="786384" h="2798064">
                <a:moveTo>
                  <a:pt x="109728" y="0"/>
                </a:moveTo>
                <a:cubicBezTo>
                  <a:pt x="0" y="1170432"/>
                  <a:pt x="173736" y="2514600"/>
                  <a:pt x="786384" y="2798064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328416" y="3246120"/>
            <a:ext cx="1225296" cy="868680"/>
          </a:xfrm>
          <a:custGeom>
            <a:avLst/>
            <a:gdLst/>
            <a:ahLst/>
            <a:cxnLst/>
            <a:rect l="l" t="t" r="r" b="b"/>
            <a:pathLst>
              <a:path w="1225296" h="868680">
                <a:moveTo>
                  <a:pt x="0" y="868680"/>
                </a:moveTo>
                <a:cubicBezTo>
                  <a:pt x="493775" y="685800"/>
                  <a:pt x="832103" y="137160"/>
                  <a:pt x="1225296" y="0"/>
                </a:cubicBezTo>
              </a:path>
            </a:pathLst>
          </a:custGeom>
          <a:noFill/>
          <a:ln w="18415">
            <a:solidFill>
              <a:srgbClr val="009696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834640" y="2331720"/>
            <a:ext cx="1719072" cy="658368"/>
          </a:xfrm>
          <a:custGeom>
            <a:avLst/>
            <a:gdLst/>
            <a:ahLst/>
            <a:cxnLst/>
            <a:rect l="l" t="t" r="r" b="b"/>
            <a:pathLst>
              <a:path w="1719072" h="658368">
                <a:moveTo>
                  <a:pt x="0" y="0"/>
                </a:moveTo>
                <a:cubicBezTo>
                  <a:pt x="640079" y="182880"/>
                  <a:pt x="1280160" y="484632"/>
                  <a:pt x="1719072" y="658368"/>
                </a:cubicBezTo>
              </a:path>
            </a:pathLst>
          </a:custGeom>
          <a:noFill/>
          <a:ln w="18415">
            <a:solidFill>
              <a:srgbClr val="2F6BF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607808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Effective block structure · red dashed = physically absent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536192"/>
            <a:ext cx="336499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627632"/>
            <a:ext cx="2999232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Configuration and interpretation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658368" cy="45720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1089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81328" y="1993392"/>
            <a:ext cx="1353312" cy="676656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KNN
SAGEConv_f · max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2066544"/>
            <a:ext cx="50292" cy="5303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27248" y="1993392"/>
            <a:ext cx="1097280" cy="67665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OFF
SE 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66544"/>
            <a:ext cx="50292" cy="53035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886200"/>
            <a:ext cx="658368" cy="45720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59352"/>
            <a:ext cx="50292" cy="31089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81328" y="3749039"/>
            <a:ext cx="1847088" cy="73152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Coordinate KNN
SAGEConv_p · max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3822191"/>
            <a:ext cx="50292" cy="58521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53712" y="2761488"/>
            <a:ext cx="822960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Cat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50992" y="2761488"/>
            <a:ext cx="694944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Fuse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0256" y="2761488"/>
            <a:ext cx="804672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+ 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0256" y="2834640"/>
            <a:ext cx="50292" cy="5486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44383" y="2761488"/>
            <a:ext cx="457200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252F40"/>
                </a:solidFill>
                <a:latin typeface="Microsoft YaHei"/>
              </a:rPr>
              <a:t>f_out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72768" y="5065776"/>
            <a:ext cx="1645920" cy="58521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feature residual
Identity / projection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5138928"/>
            <a:ext cx="50292" cy="43891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4956048"/>
            <a:ext cx="2011680" cy="76809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coordinate residual group
coord_gate + coord_res + encoder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5029200"/>
            <a:ext cx="50292" cy="62179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53328" y="5065776"/>
            <a:ext cx="1353312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coord_scale × delta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3328" y="5138928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25296" y="2331720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834640" y="2468880"/>
            <a:ext cx="292608" cy="0"/>
          </a:xfrm>
          <a:prstGeom prst="line">
            <a:avLst/>
          </a:prstGeom>
          <a:ln w="1714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25296" y="4114800"/>
            <a:ext cx="256032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76672" y="3108960"/>
            <a:ext cx="274320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45936" y="3108960"/>
            <a:ext cx="274320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24927" y="3108960"/>
            <a:ext cx="219456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759952" y="1901952"/>
            <a:ext cx="2834640" cy="640080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唯一有效变化
SE gate = OFF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59952" y="1975104"/>
            <a:ext cx="50292" cy="493775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759952" y="2724912"/>
            <a:ext cx="2834640" cy="74980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研究问题
通道重标定是否提供独立收益？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59952" y="2798064"/>
            <a:ext cx="50292" cy="60350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759952" y="3675887"/>
            <a:ext cx="2834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physical=true · SE=false
coord_res=true · feature_res=true
AGG=max · exclude_self=true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59952" y="3749039"/>
            <a:ext cx="50292" cy="65836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759952" y="4681728"/>
            <a:ext cx="2834640" cy="62179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MLP head · effective λ_obj=0
Parameters: 1,286,689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59952" y="4754880"/>
            <a:ext cx="50292" cy="47548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759952" y="5504688"/>
            <a:ext cx="2834640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19" b="0">
                <a:solidFill>
                  <a:srgbClr val="252F40"/>
                </a:solidFill>
                <a:latin typeface="Microsoft YaHei"/>
              </a:rPr>
              <a:t>特征 SAGE 输出直接进入双流融合；其余结构不变。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59952" y="5577840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B3 · 关闭坐标残差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B3 · 单因素结构消融 · MLP head · λ_obj=0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model/graph_res_GCN_ablation.py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Ablation 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7973568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96112" y="4343400"/>
            <a:ext cx="3767328" cy="640080"/>
          </a:xfrm>
          <a:custGeom>
            <a:avLst/>
            <a:gdLst/>
            <a:ahLst/>
            <a:cxnLst/>
            <a:rect l="l" t="t" r="r" b="b"/>
            <a:pathLst>
              <a:path w="3767327" h="640080">
                <a:moveTo>
                  <a:pt x="0" y="0"/>
                </a:moveTo>
                <a:cubicBezTo>
                  <a:pt x="676656" y="640080"/>
                  <a:pt x="2578608" y="274319"/>
                  <a:pt x="3767327" y="612647"/>
                </a:cubicBezTo>
              </a:path>
            </a:pathLst>
          </a:custGeom>
          <a:noFill/>
          <a:ln w="1841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18688" y="3346704"/>
            <a:ext cx="3401568" cy="2011680"/>
          </a:xfrm>
          <a:custGeom>
            <a:avLst/>
            <a:gdLst/>
            <a:ahLst/>
            <a:cxnLst/>
            <a:rect l="l" t="t" r="r" b="b"/>
            <a:pathLst>
              <a:path w="3401568" h="2011680">
                <a:moveTo>
                  <a:pt x="0" y="2011680"/>
                </a:moveTo>
                <a:cubicBezTo>
                  <a:pt x="822959" y="1847087"/>
                  <a:pt x="2139696" y="384047"/>
                  <a:pt x="3401568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86384" y="2560320"/>
            <a:ext cx="786384" cy="2798064"/>
          </a:xfrm>
          <a:custGeom>
            <a:avLst/>
            <a:gdLst/>
            <a:ahLst/>
            <a:cxnLst/>
            <a:rect l="l" t="t" r="r" b="b"/>
            <a:pathLst>
              <a:path w="786384" h="2798064">
                <a:moveTo>
                  <a:pt x="109728" y="0"/>
                </a:moveTo>
                <a:cubicBezTo>
                  <a:pt x="0" y="1170432"/>
                  <a:pt x="173736" y="2514600"/>
                  <a:pt x="786384" y="2798064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328416" y="3246120"/>
            <a:ext cx="1225296" cy="868680"/>
          </a:xfrm>
          <a:custGeom>
            <a:avLst/>
            <a:gdLst/>
            <a:ahLst/>
            <a:cxnLst/>
            <a:rect l="l" t="t" r="r" b="b"/>
            <a:pathLst>
              <a:path w="1225296" h="868680">
                <a:moveTo>
                  <a:pt x="0" y="868680"/>
                </a:moveTo>
                <a:cubicBezTo>
                  <a:pt x="493775" y="685800"/>
                  <a:pt x="832103" y="137160"/>
                  <a:pt x="1225296" y="0"/>
                </a:cubicBezTo>
              </a:path>
            </a:pathLst>
          </a:custGeom>
          <a:noFill/>
          <a:ln w="18415">
            <a:solidFill>
              <a:srgbClr val="009696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224528" y="2331720"/>
            <a:ext cx="329184" cy="658368"/>
          </a:xfrm>
          <a:custGeom>
            <a:avLst/>
            <a:gdLst/>
            <a:ahLst/>
            <a:cxnLst/>
            <a:rect l="l" t="t" r="r" b="b"/>
            <a:pathLst>
              <a:path w="329184" h="658368">
                <a:moveTo>
                  <a:pt x="0" y="0"/>
                </a:moveTo>
                <a:cubicBezTo>
                  <a:pt x="146304" y="155448"/>
                  <a:pt x="146304" y="594360"/>
                  <a:pt x="329184" y="658368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607808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Effective block structure · red dashed = physically absent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536192"/>
            <a:ext cx="336499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627632"/>
            <a:ext cx="2999232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Configuration and interpretation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658368" cy="45720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1089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81328" y="1993392"/>
            <a:ext cx="1353312" cy="676656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KNN
SAGEConv_f · max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2066544"/>
            <a:ext cx="50292" cy="5303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27248" y="1993392"/>
            <a:ext cx="1097280" cy="67665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SE gate
GAP→MLP→σ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66544"/>
            <a:ext cx="50292" cy="53035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886200"/>
            <a:ext cx="658368" cy="45720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59352"/>
            <a:ext cx="50292" cy="31089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81328" y="3749039"/>
            <a:ext cx="1847088" cy="73152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Coordinate KNN
SAGEConv_p · max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3822191"/>
            <a:ext cx="50292" cy="58521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53712" y="2761488"/>
            <a:ext cx="822960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Cat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50992" y="2761488"/>
            <a:ext cx="694944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Fuse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0256" y="2761488"/>
            <a:ext cx="804672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+ 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0256" y="2834640"/>
            <a:ext cx="50292" cy="5486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44383" y="2761488"/>
            <a:ext cx="457200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252F40"/>
                </a:solidFill>
                <a:latin typeface="Microsoft YaHei"/>
              </a:rPr>
              <a:t>f_out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72768" y="5065776"/>
            <a:ext cx="1645920" cy="58521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feature residual
Identity / projection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5138928"/>
            <a:ext cx="50292" cy="43891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4956048"/>
            <a:ext cx="2011680" cy="76809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1">
                <a:solidFill>
                  <a:srgbClr val="252F40"/>
                </a:solidFill>
                <a:latin typeface="Microsoft YaHei"/>
              </a:rPr>
              <a:t>OFF
coordinate residual group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5029200"/>
            <a:ext cx="50292" cy="62179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53328" y="5065776"/>
            <a:ext cx="1353312" cy="58521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absent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3328" y="5138928"/>
            <a:ext cx="50292" cy="43891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25296" y="2331720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834640" y="2331720"/>
            <a:ext cx="292608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25296" y="4114800"/>
            <a:ext cx="256032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76672" y="3108960"/>
            <a:ext cx="274320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45936" y="3108960"/>
            <a:ext cx="274320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24927" y="3108960"/>
            <a:ext cx="219456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759952" y="1901952"/>
            <a:ext cx="2834640" cy="640080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唯一有效变化
coord residual = OFF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59952" y="1975104"/>
            <a:ext cx="50292" cy="493775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759952" y="2724912"/>
            <a:ext cx="2834640" cy="74980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研究问题
显式坐标残差注入是否必要？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59952" y="2798064"/>
            <a:ext cx="50292" cy="60350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759952" y="3675887"/>
            <a:ext cx="2834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physical=true · SE=true
coord_res=false · feature_res=true
AGG=max · exclude_self=true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59952" y="3749039"/>
            <a:ext cx="50292" cy="65836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759952" y="4681728"/>
            <a:ext cx="2834640" cy="62179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MLP head · effective λ_obj=0
Parameters: 1,231,389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59952" y="4754880"/>
            <a:ext cx="50292" cy="47548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759952" y="5504688"/>
            <a:ext cx="2834640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19" b="0">
                <a:solidFill>
                  <a:srgbClr val="252F40"/>
                </a:solidFill>
                <a:latin typeface="Microsoft YaHei"/>
              </a:rPr>
              <a:t>移除 coord_gate、coord_res、coord_encoder 与 coord_scale。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59952" y="5577840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B4 · max 改为 mean 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B4 · 单因素结构消融 · MLP head · λ_obj=0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model/graph_res_GCN_ablation.py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Ablation 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7973568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022592" y="3456432"/>
            <a:ext cx="859535" cy="1901952"/>
          </a:xfrm>
          <a:custGeom>
            <a:avLst/>
            <a:gdLst/>
            <a:ahLst/>
            <a:cxnLst/>
            <a:rect l="l" t="t" r="r" b="b"/>
            <a:pathLst>
              <a:path w="859535" h="1901952">
                <a:moveTo>
                  <a:pt x="384047" y="1901952"/>
                </a:moveTo>
                <a:cubicBezTo>
                  <a:pt x="859535" y="1371600"/>
                  <a:pt x="731520" y="457200"/>
                  <a:pt x="0" y="0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669280" y="5321808"/>
            <a:ext cx="384048" cy="36576"/>
          </a:xfrm>
          <a:custGeom>
            <a:avLst/>
            <a:gdLst/>
            <a:ahLst/>
            <a:cxnLst/>
            <a:rect l="l" t="t" r="r" b="b"/>
            <a:pathLst>
              <a:path w="384047" h="36576">
                <a:moveTo>
                  <a:pt x="0" y="36576"/>
                </a:moveTo>
                <a:cubicBezTo>
                  <a:pt x="128015" y="0"/>
                  <a:pt x="256032" y="0"/>
                  <a:pt x="384047" y="36576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96112" y="4343400"/>
            <a:ext cx="3767328" cy="640080"/>
          </a:xfrm>
          <a:custGeom>
            <a:avLst/>
            <a:gdLst/>
            <a:ahLst/>
            <a:cxnLst/>
            <a:rect l="l" t="t" r="r" b="b"/>
            <a:pathLst>
              <a:path w="3767327" h="640080">
                <a:moveTo>
                  <a:pt x="0" y="0"/>
                </a:moveTo>
                <a:cubicBezTo>
                  <a:pt x="676656" y="640080"/>
                  <a:pt x="2578608" y="274319"/>
                  <a:pt x="3767327" y="612647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18688" y="3346704"/>
            <a:ext cx="3401568" cy="2011680"/>
          </a:xfrm>
          <a:custGeom>
            <a:avLst/>
            <a:gdLst/>
            <a:ahLst/>
            <a:cxnLst/>
            <a:rect l="l" t="t" r="r" b="b"/>
            <a:pathLst>
              <a:path w="3401568" h="2011680">
                <a:moveTo>
                  <a:pt x="0" y="2011680"/>
                </a:moveTo>
                <a:cubicBezTo>
                  <a:pt x="822959" y="1847087"/>
                  <a:pt x="2139696" y="384047"/>
                  <a:pt x="3401568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86384" y="2560320"/>
            <a:ext cx="786384" cy="2798064"/>
          </a:xfrm>
          <a:custGeom>
            <a:avLst/>
            <a:gdLst/>
            <a:ahLst/>
            <a:cxnLst/>
            <a:rect l="l" t="t" r="r" b="b"/>
            <a:pathLst>
              <a:path w="786384" h="2798064">
                <a:moveTo>
                  <a:pt x="109728" y="0"/>
                </a:moveTo>
                <a:cubicBezTo>
                  <a:pt x="0" y="1170432"/>
                  <a:pt x="173736" y="2514600"/>
                  <a:pt x="786384" y="2798064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328416" y="3246120"/>
            <a:ext cx="1225296" cy="868680"/>
          </a:xfrm>
          <a:custGeom>
            <a:avLst/>
            <a:gdLst/>
            <a:ahLst/>
            <a:cxnLst/>
            <a:rect l="l" t="t" r="r" b="b"/>
            <a:pathLst>
              <a:path w="1225296" h="868680">
                <a:moveTo>
                  <a:pt x="0" y="868680"/>
                </a:moveTo>
                <a:cubicBezTo>
                  <a:pt x="493775" y="685800"/>
                  <a:pt x="832103" y="137160"/>
                  <a:pt x="1225296" y="0"/>
                </a:cubicBezTo>
              </a:path>
            </a:pathLst>
          </a:custGeom>
          <a:noFill/>
          <a:ln w="18415">
            <a:solidFill>
              <a:srgbClr val="009696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224528" y="2331720"/>
            <a:ext cx="329184" cy="658368"/>
          </a:xfrm>
          <a:custGeom>
            <a:avLst/>
            <a:gdLst/>
            <a:ahLst/>
            <a:cxnLst/>
            <a:rect l="l" t="t" r="r" b="b"/>
            <a:pathLst>
              <a:path w="329184" h="658368">
                <a:moveTo>
                  <a:pt x="0" y="0"/>
                </a:moveTo>
                <a:cubicBezTo>
                  <a:pt x="146304" y="155448"/>
                  <a:pt x="146304" y="594360"/>
                  <a:pt x="329184" y="658368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607808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Effective block structure · red dashed = physically absent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536192"/>
            <a:ext cx="336499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627632"/>
            <a:ext cx="2999232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Configuration and interpretation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658368" cy="45720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1089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81328" y="1993392"/>
            <a:ext cx="1353312" cy="676656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KNN
SAGEConv_f · mean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2066544"/>
            <a:ext cx="50292" cy="5303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27248" y="1993392"/>
            <a:ext cx="1097280" cy="67665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SE gate
GAP→MLP→σ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66544"/>
            <a:ext cx="50292" cy="53035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886200"/>
            <a:ext cx="658368" cy="45720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59352"/>
            <a:ext cx="50292" cy="31089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81328" y="3749039"/>
            <a:ext cx="1847088" cy="73152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Coordinate KNN
SAGEConv_p · mean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3822191"/>
            <a:ext cx="50292" cy="58521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53712" y="2761488"/>
            <a:ext cx="822960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Cat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50992" y="2761488"/>
            <a:ext cx="694944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Fuse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0256" y="2761488"/>
            <a:ext cx="804672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+ 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0256" y="2834640"/>
            <a:ext cx="50292" cy="5486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44383" y="2761488"/>
            <a:ext cx="457200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252F40"/>
                </a:solidFill>
                <a:latin typeface="Microsoft YaHei"/>
              </a:rPr>
              <a:t>f_out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72768" y="5065776"/>
            <a:ext cx="1645920" cy="58521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feature residual
Identity / projection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5138928"/>
            <a:ext cx="50292" cy="43891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4956048"/>
            <a:ext cx="2011680" cy="76809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coordinate residual group
coord_gate + coord_res + encoder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5029200"/>
            <a:ext cx="50292" cy="62179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53328" y="5065776"/>
            <a:ext cx="1353312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coord_scale × delta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3328" y="5138928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25296" y="2331720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834640" y="2331720"/>
            <a:ext cx="292608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25296" y="4114800"/>
            <a:ext cx="256032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76672" y="3108960"/>
            <a:ext cx="274320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45936" y="3108960"/>
            <a:ext cx="274320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24927" y="3108960"/>
            <a:ext cx="219456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874519" y="2990088"/>
            <a:ext cx="1188720" cy="29260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252F40"/>
                </a:solidFill>
                <a:latin typeface="Microsoft YaHei"/>
              </a:rPr>
              <a:t>AGG = mean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59952" y="1901952"/>
            <a:ext cx="2834640" cy="64008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唯一有效变化
aggregation = mean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59952" y="1975104"/>
            <a:ext cx="50292" cy="493775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759952" y="2724912"/>
            <a:ext cx="2834640" cy="74980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研究问题
稀疏目标是否更适合 max 而不是 mean？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59952" y="2798064"/>
            <a:ext cx="50292" cy="60350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759952" y="3675887"/>
            <a:ext cx="2834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physical=true · SE=true
coord_res=true · feature_res=true
AGG=mean · exclude_self=true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59952" y="3749039"/>
            <a:ext cx="50292" cy="65836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59952" y="4681728"/>
            <a:ext cx="2834640" cy="62179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MLP head · effective λ_obj=0
Parameters: 1,331,745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59952" y="4754880"/>
            <a:ext cx="50292" cy="47548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59952" y="5504688"/>
            <a:ext cx="2834640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19" b="0">
                <a:solidFill>
                  <a:srgbClr val="252F40"/>
                </a:solidFill>
                <a:latin typeface="Microsoft YaHei"/>
              </a:rPr>
              <a:t>Feature 与 physical 两个 SAGEConv 均使用 mean 聚合。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759952" y="5577840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B5 · KNN 包含自身点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B5 · 单因素结构消融 · MLP head · λ_obj=0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model/graph_res_GCN_ablation.py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Ablation 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7973568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591056" y="3456432"/>
            <a:ext cx="1426464" cy="292607"/>
          </a:xfrm>
          <a:custGeom>
            <a:avLst/>
            <a:gdLst/>
            <a:ahLst/>
            <a:cxnLst/>
            <a:rect l="l" t="t" r="r" b="b"/>
            <a:pathLst>
              <a:path w="1426463" h="292607">
                <a:moveTo>
                  <a:pt x="274320" y="292607"/>
                </a:moveTo>
                <a:cubicBezTo>
                  <a:pt x="0" y="0"/>
                  <a:pt x="1426463" y="0"/>
                  <a:pt x="1152144" y="292607"/>
                </a:cubicBezTo>
              </a:path>
            </a:pathLst>
          </a:custGeom>
          <a:noFill/>
          <a:ln w="18415">
            <a:solidFill>
              <a:srgbClr val="009696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609344" y="1682496"/>
            <a:ext cx="1097280" cy="310896"/>
          </a:xfrm>
          <a:custGeom>
            <a:avLst/>
            <a:gdLst/>
            <a:ahLst/>
            <a:cxnLst/>
            <a:rect l="l" t="t" r="r" b="b"/>
            <a:pathLst>
              <a:path w="1097280" h="310896">
                <a:moveTo>
                  <a:pt x="237744" y="310896"/>
                </a:moveTo>
                <a:cubicBezTo>
                  <a:pt x="0" y="0"/>
                  <a:pt x="1097280" y="0"/>
                  <a:pt x="859536" y="310896"/>
                </a:cubicBezTo>
              </a:path>
            </a:pathLst>
          </a:custGeom>
          <a:noFill/>
          <a:ln w="18415">
            <a:solidFill>
              <a:srgbClr val="2F6BF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022592" y="3456432"/>
            <a:ext cx="859535" cy="1901952"/>
          </a:xfrm>
          <a:custGeom>
            <a:avLst/>
            <a:gdLst/>
            <a:ahLst/>
            <a:cxnLst/>
            <a:rect l="l" t="t" r="r" b="b"/>
            <a:pathLst>
              <a:path w="859535" h="1901952">
                <a:moveTo>
                  <a:pt x="384047" y="1901952"/>
                </a:moveTo>
                <a:cubicBezTo>
                  <a:pt x="859535" y="1371600"/>
                  <a:pt x="731520" y="457200"/>
                  <a:pt x="0" y="0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669280" y="5321808"/>
            <a:ext cx="384048" cy="36576"/>
          </a:xfrm>
          <a:custGeom>
            <a:avLst/>
            <a:gdLst/>
            <a:ahLst/>
            <a:cxnLst/>
            <a:rect l="l" t="t" r="r" b="b"/>
            <a:pathLst>
              <a:path w="384047" h="36576">
                <a:moveTo>
                  <a:pt x="0" y="36576"/>
                </a:moveTo>
                <a:cubicBezTo>
                  <a:pt x="128015" y="0"/>
                  <a:pt x="256032" y="0"/>
                  <a:pt x="384047" y="36576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96112" y="4343400"/>
            <a:ext cx="3767328" cy="640080"/>
          </a:xfrm>
          <a:custGeom>
            <a:avLst/>
            <a:gdLst/>
            <a:ahLst/>
            <a:cxnLst/>
            <a:rect l="l" t="t" r="r" b="b"/>
            <a:pathLst>
              <a:path w="3767327" h="640080">
                <a:moveTo>
                  <a:pt x="0" y="0"/>
                </a:moveTo>
                <a:cubicBezTo>
                  <a:pt x="676656" y="640080"/>
                  <a:pt x="2578608" y="274319"/>
                  <a:pt x="3767327" y="612647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18688" y="3346704"/>
            <a:ext cx="3401568" cy="2011680"/>
          </a:xfrm>
          <a:custGeom>
            <a:avLst/>
            <a:gdLst/>
            <a:ahLst/>
            <a:cxnLst/>
            <a:rect l="l" t="t" r="r" b="b"/>
            <a:pathLst>
              <a:path w="3401568" h="2011680">
                <a:moveTo>
                  <a:pt x="0" y="2011680"/>
                </a:moveTo>
                <a:cubicBezTo>
                  <a:pt x="822959" y="1847087"/>
                  <a:pt x="2139696" y="384047"/>
                  <a:pt x="3401568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86384" y="2560320"/>
            <a:ext cx="786384" cy="2798064"/>
          </a:xfrm>
          <a:custGeom>
            <a:avLst/>
            <a:gdLst/>
            <a:ahLst/>
            <a:cxnLst/>
            <a:rect l="l" t="t" r="r" b="b"/>
            <a:pathLst>
              <a:path w="786384" h="2798064">
                <a:moveTo>
                  <a:pt x="109728" y="0"/>
                </a:moveTo>
                <a:cubicBezTo>
                  <a:pt x="0" y="1170432"/>
                  <a:pt x="173736" y="2514600"/>
                  <a:pt x="786384" y="2798064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328416" y="3246120"/>
            <a:ext cx="1225296" cy="868680"/>
          </a:xfrm>
          <a:custGeom>
            <a:avLst/>
            <a:gdLst/>
            <a:ahLst/>
            <a:cxnLst/>
            <a:rect l="l" t="t" r="r" b="b"/>
            <a:pathLst>
              <a:path w="1225296" h="868680">
                <a:moveTo>
                  <a:pt x="0" y="868680"/>
                </a:moveTo>
                <a:cubicBezTo>
                  <a:pt x="493775" y="685800"/>
                  <a:pt x="832103" y="137160"/>
                  <a:pt x="1225296" y="0"/>
                </a:cubicBezTo>
              </a:path>
            </a:pathLst>
          </a:custGeom>
          <a:noFill/>
          <a:ln w="18415">
            <a:solidFill>
              <a:srgbClr val="009696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224528" y="2331720"/>
            <a:ext cx="329184" cy="658368"/>
          </a:xfrm>
          <a:custGeom>
            <a:avLst/>
            <a:gdLst/>
            <a:ahLst/>
            <a:cxnLst/>
            <a:rect l="l" t="t" r="r" b="b"/>
            <a:pathLst>
              <a:path w="329184" h="658368">
                <a:moveTo>
                  <a:pt x="0" y="0"/>
                </a:moveTo>
                <a:cubicBezTo>
                  <a:pt x="146304" y="155448"/>
                  <a:pt x="146304" y="594360"/>
                  <a:pt x="329184" y="658368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607808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Effective block structure · red dashed = physically absent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536192"/>
            <a:ext cx="336499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627632"/>
            <a:ext cx="2999232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Configuration and interpretation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658368" cy="45720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1089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81328" y="1993392"/>
            <a:ext cx="1353312" cy="676656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KNN
SAGEConv_f · max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2066544"/>
            <a:ext cx="50292" cy="5303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27248" y="1993392"/>
            <a:ext cx="1097280" cy="67665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SE gate
GAP→MLP→σ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66544"/>
            <a:ext cx="50292" cy="53035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886200"/>
            <a:ext cx="658368" cy="45720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59352"/>
            <a:ext cx="50292" cy="31089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81328" y="3749039"/>
            <a:ext cx="1847088" cy="73152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Coordinate KNN
SAGEConv_p · max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3822191"/>
            <a:ext cx="50292" cy="58521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53712" y="2761488"/>
            <a:ext cx="822960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Cat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50992" y="2761488"/>
            <a:ext cx="694944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Fuse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0256" y="2761488"/>
            <a:ext cx="804672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+ 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0256" y="2834640"/>
            <a:ext cx="50292" cy="5486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44383" y="2761488"/>
            <a:ext cx="457200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252F40"/>
                </a:solidFill>
                <a:latin typeface="Microsoft YaHei"/>
              </a:rPr>
              <a:t>f_out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72768" y="5065776"/>
            <a:ext cx="1645920" cy="58521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feature residual
Identity / projection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5138928"/>
            <a:ext cx="50292" cy="43891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4956048"/>
            <a:ext cx="2011680" cy="76809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coordinate residual group
coord_gate + coord_res + encoder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5029200"/>
            <a:ext cx="50292" cy="62179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53328" y="5065776"/>
            <a:ext cx="1353312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coord_scale × delta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3328" y="5138928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25296" y="2331720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834640" y="2331720"/>
            <a:ext cx="292608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25296" y="4114800"/>
            <a:ext cx="256032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76672" y="3108960"/>
            <a:ext cx="274320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45936" y="3108960"/>
            <a:ext cx="274320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24927" y="3108960"/>
            <a:ext cx="219456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627632" y="2990088"/>
            <a:ext cx="1152144" cy="29260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252F40"/>
                </a:solidFill>
                <a:latin typeface="Microsoft YaHei"/>
              </a:rPr>
              <a:t>KNN includes 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59952" y="1901952"/>
            <a:ext cx="2834640" cy="64008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唯一有效变化
exclude_self = false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59952" y="1975104"/>
            <a:ext cx="50292" cy="493775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759952" y="2724912"/>
            <a:ext cx="2834640" cy="74980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研究问题
root transform 外再次聚合自身是否有影响？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59952" y="2798064"/>
            <a:ext cx="50292" cy="60350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59952" y="3675887"/>
            <a:ext cx="2834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physical=true · SE=true
coord_res=true · feature_res=true
AGG=max · exclude_self=false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59952" y="3749039"/>
            <a:ext cx="50292" cy="65836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59952" y="4681728"/>
            <a:ext cx="2834640" cy="62179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MLP head · effective λ_obj=0
Parameters: 1,331,745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759952" y="4754880"/>
            <a:ext cx="50292" cy="47548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759952" y="5504688"/>
            <a:ext cx="2834640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19" b="0">
                <a:solidFill>
                  <a:srgbClr val="252F40"/>
                </a:solidFill>
                <a:latin typeface="Microsoft YaHei"/>
              </a:rPr>
              <a:t>KNN 保留中心点；SAGEConv 的 root transform 仍然存在。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59952" y="5577840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B6 · 关闭特征残差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B6 · 单因素结构消融 · MLP head · λ_obj=0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model/graph_res_GCN_ablation.py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Ablation 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7973568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022592" y="3456432"/>
            <a:ext cx="859535" cy="1901952"/>
          </a:xfrm>
          <a:custGeom>
            <a:avLst/>
            <a:gdLst/>
            <a:ahLst/>
            <a:cxnLst/>
            <a:rect l="l" t="t" r="r" b="b"/>
            <a:pathLst>
              <a:path w="859535" h="1901952">
                <a:moveTo>
                  <a:pt x="384047" y="1901952"/>
                </a:moveTo>
                <a:cubicBezTo>
                  <a:pt x="859535" y="1371600"/>
                  <a:pt x="731520" y="457200"/>
                  <a:pt x="0" y="0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69280" y="5321808"/>
            <a:ext cx="384048" cy="36576"/>
          </a:xfrm>
          <a:custGeom>
            <a:avLst/>
            <a:gdLst/>
            <a:ahLst/>
            <a:cxnLst/>
            <a:rect l="l" t="t" r="r" b="b"/>
            <a:pathLst>
              <a:path w="384047" h="36576">
                <a:moveTo>
                  <a:pt x="0" y="36576"/>
                </a:moveTo>
                <a:cubicBezTo>
                  <a:pt x="128015" y="0"/>
                  <a:pt x="256032" y="0"/>
                  <a:pt x="384047" y="36576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896112" y="4343400"/>
            <a:ext cx="3767328" cy="640080"/>
          </a:xfrm>
          <a:custGeom>
            <a:avLst/>
            <a:gdLst/>
            <a:ahLst/>
            <a:cxnLst/>
            <a:rect l="l" t="t" r="r" b="b"/>
            <a:pathLst>
              <a:path w="3767327" h="640080">
                <a:moveTo>
                  <a:pt x="0" y="0"/>
                </a:moveTo>
                <a:cubicBezTo>
                  <a:pt x="676656" y="640080"/>
                  <a:pt x="2578608" y="274319"/>
                  <a:pt x="3767327" y="612647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86384" y="2560320"/>
            <a:ext cx="786384" cy="2798064"/>
          </a:xfrm>
          <a:custGeom>
            <a:avLst/>
            <a:gdLst/>
            <a:ahLst/>
            <a:cxnLst/>
            <a:rect l="l" t="t" r="r" b="b"/>
            <a:pathLst>
              <a:path w="786384" h="2798064">
                <a:moveTo>
                  <a:pt x="109728" y="0"/>
                </a:moveTo>
                <a:cubicBezTo>
                  <a:pt x="0" y="1170432"/>
                  <a:pt x="173736" y="2514600"/>
                  <a:pt x="786384" y="2798064"/>
                </a:cubicBezTo>
              </a:path>
            </a:pathLst>
          </a:custGeom>
          <a:noFill/>
          <a:ln w="1841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328416" y="3246120"/>
            <a:ext cx="1225296" cy="868680"/>
          </a:xfrm>
          <a:custGeom>
            <a:avLst/>
            <a:gdLst/>
            <a:ahLst/>
            <a:cxnLst/>
            <a:rect l="l" t="t" r="r" b="b"/>
            <a:pathLst>
              <a:path w="1225296" h="868680">
                <a:moveTo>
                  <a:pt x="0" y="868680"/>
                </a:moveTo>
                <a:cubicBezTo>
                  <a:pt x="493775" y="685800"/>
                  <a:pt x="832103" y="137160"/>
                  <a:pt x="1225296" y="0"/>
                </a:cubicBezTo>
              </a:path>
            </a:pathLst>
          </a:custGeom>
          <a:noFill/>
          <a:ln w="18415">
            <a:solidFill>
              <a:srgbClr val="009696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224528" y="2331720"/>
            <a:ext cx="329184" cy="658368"/>
          </a:xfrm>
          <a:custGeom>
            <a:avLst/>
            <a:gdLst/>
            <a:ahLst/>
            <a:cxnLst/>
            <a:rect l="l" t="t" r="r" b="b"/>
            <a:pathLst>
              <a:path w="329184" h="658368">
                <a:moveTo>
                  <a:pt x="0" y="0"/>
                </a:moveTo>
                <a:cubicBezTo>
                  <a:pt x="146304" y="155448"/>
                  <a:pt x="146304" y="594360"/>
                  <a:pt x="329184" y="658368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607808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Effective block structure · red dashed = physically absent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536192"/>
            <a:ext cx="336499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627632"/>
            <a:ext cx="2999232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Configuration and interpretation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658368" cy="45720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1089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81328" y="1993392"/>
            <a:ext cx="1353312" cy="676656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KNN
SAGEConv_f · max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2066544"/>
            <a:ext cx="50292" cy="5303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27248" y="1993392"/>
            <a:ext cx="1097280" cy="67665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SE gate
GAP→MLP→σ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66544"/>
            <a:ext cx="50292" cy="53035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886200"/>
            <a:ext cx="658368" cy="45720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59352"/>
            <a:ext cx="50292" cy="31089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81328" y="3749039"/>
            <a:ext cx="1847088" cy="73152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Coordinate KNN
SAGEConv_p · max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3822191"/>
            <a:ext cx="50292" cy="58521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53712" y="2761488"/>
            <a:ext cx="822960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Cat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50992" y="2761488"/>
            <a:ext cx="694944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Fuse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0256" y="2761488"/>
            <a:ext cx="804672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+ 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0256" y="2834640"/>
            <a:ext cx="50292" cy="5486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44383" y="2761488"/>
            <a:ext cx="457200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252F40"/>
                </a:solidFill>
                <a:latin typeface="Microsoft YaHei"/>
              </a:rPr>
              <a:t>f_out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72768" y="5065776"/>
            <a:ext cx="1645920" cy="58521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1">
                <a:solidFill>
                  <a:srgbClr val="252F40"/>
                </a:solidFill>
                <a:latin typeface="Microsoft YaHei"/>
              </a:rPr>
              <a:t>OFF
feature residual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5138928"/>
            <a:ext cx="50292" cy="43891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4956048"/>
            <a:ext cx="2011680" cy="76809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coordinate residual group
coord_gate + coord_res + encoder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5029200"/>
            <a:ext cx="50292" cy="62179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53328" y="5065776"/>
            <a:ext cx="1353312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coord_scale × delta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3328" y="5138928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25296" y="2331720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834640" y="2331720"/>
            <a:ext cx="292608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25296" y="4114800"/>
            <a:ext cx="256032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76672" y="3108960"/>
            <a:ext cx="274320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45936" y="3108960"/>
            <a:ext cx="274320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24927" y="3108960"/>
            <a:ext cx="219456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759952" y="1901952"/>
            <a:ext cx="2834640" cy="640080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唯一有效变化
feature residual = OFF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59952" y="1975104"/>
            <a:ext cx="50292" cy="493775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759952" y="2724912"/>
            <a:ext cx="2834640" cy="74980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研究问题
显式 feature residual 是否改善优化与语义保留？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59952" y="2798064"/>
            <a:ext cx="50292" cy="60350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759952" y="3675887"/>
            <a:ext cx="2834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physical=true · SE=true
coord_res=true · feature_res=false
AGG=max · exclude_self=true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59952" y="3749039"/>
            <a:ext cx="50292" cy="65836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759952" y="4681728"/>
            <a:ext cx="2834640" cy="62179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MLP head · effective λ_obj=0
Parameters: 1,287,841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59952" y="4754880"/>
            <a:ext cx="50292" cy="47548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59952" y="5504688"/>
            <a:ext cx="2834640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19" b="0">
                <a:solidFill>
                  <a:srgbClr val="252F40"/>
                </a:solidFill>
                <a:latin typeface="Microsoft YaHei"/>
              </a:rPr>
              <a:t>仅移除 block 的 Identity / projection feature skip。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59952" y="5577840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B7 · 关闭两条坐标路径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B7 · 单因素结构消融 · MLP head · λ_obj=0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model/graph_res_GCN_ablation.py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Ablation 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7973568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96112" y="4343400"/>
            <a:ext cx="3767328" cy="640080"/>
          </a:xfrm>
          <a:custGeom>
            <a:avLst/>
            <a:gdLst/>
            <a:ahLst/>
            <a:cxnLst/>
            <a:rect l="l" t="t" r="r" b="b"/>
            <a:pathLst>
              <a:path w="3767327" h="640080">
                <a:moveTo>
                  <a:pt x="0" y="0"/>
                </a:moveTo>
                <a:cubicBezTo>
                  <a:pt x="676656" y="640080"/>
                  <a:pt x="2578608" y="274319"/>
                  <a:pt x="3767327" y="612647"/>
                </a:cubicBezTo>
              </a:path>
            </a:pathLst>
          </a:custGeom>
          <a:noFill/>
          <a:ln w="1841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18688" y="3346704"/>
            <a:ext cx="3401568" cy="2011680"/>
          </a:xfrm>
          <a:custGeom>
            <a:avLst/>
            <a:gdLst/>
            <a:ahLst/>
            <a:cxnLst/>
            <a:rect l="l" t="t" r="r" b="b"/>
            <a:pathLst>
              <a:path w="3401568" h="2011680">
                <a:moveTo>
                  <a:pt x="0" y="2011680"/>
                </a:moveTo>
                <a:cubicBezTo>
                  <a:pt x="822959" y="1847087"/>
                  <a:pt x="2139696" y="384047"/>
                  <a:pt x="3401568" y="0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86384" y="2560320"/>
            <a:ext cx="786384" cy="2798064"/>
          </a:xfrm>
          <a:custGeom>
            <a:avLst/>
            <a:gdLst/>
            <a:ahLst/>
            <a:cxnLst/>
            <a:rect l="l" t="t" r="r" b="b"/>
            <a:pathLst>
              <a:path w="786384" h="2798064">
                <a:moveTo>
                  <a:pt x="109728" y="0"/>
                </a:moveTo>
                <a:cubicBezTo>
                  <a:pt x="0" y="1170432"/>
                  <a:pt x="173736" y="2514600"/>
                  <a:pt x="786384" y="2798064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328416" y="3246120"/>
            <a:ext cx="1225296" cy="868680"/>
          </a:xfrm>
          <a:custGeom>
            <a:avLst/>
            <a:gdLst/>
            <a:ahLst/>
            <a:cxnLst/>
            <a:rect l="l" t="t" r="r" b="b"/>
            <a:pathLst>
              <a:path w="1225296" h="868680">
                <a:moveTo>
                  <a:pt x="0" y="868680"/>
                </a:moveTo>
                <a:cubicBezTo>
                  <a:pt x="420623" y="594360"/>
                  <a:pt x="832103" y="228600"/>
                  <a:pt x="1225296" y="0"/>
                </a:cubicBezTo>
              </a:path>
            </a:pathLst>
          </a:custGeom>
          <a:noFill/>
          <a:ln w="1841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224528" y="2331720"/>
            <a:ext cx="329184" cy="658368"/>
          </a:xfrm>
          <a:custGeom>
            <a:avLst/>
            <a:gdLst/>
            <a:ahLst/>
            <a:cxnLst/>
            <a:rect l="l" t="t" r="r" b="b"/>
            <a:pathLst>
              <a:path w="329184" h="658368">
                <a:moveTo>
                  <a:pt x="0" y="0"/>
                </a:moveTo>
                <a:cubicBezTo>
                  <a:pt x="146304" y="155448"/>
                  <a:pt x="146304" y="594360"/>
                  <a:pt x="329184" y="658368"/>
                </a:cubicBezTo>
              </a:path>
            </a:pathLst>
          </a:custGeom>
          <a:noFill/>
          <a:ln w="18415">
            <a:solidFill>
              <a:srgbClr val="7047BE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607808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Effective block structure · red dashed = physically absent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536192"/>
            <a:ext cx="336499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627632"/>
            <a:ext cx="2999232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Configuration and interpretation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103120"/>
            <a:ext cx="658368" cy="45720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76272"/>
            <a:ext cx="50292" cy="31089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81328" y="1993392"/>
            <a:ext cx="1353312" cy="676656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KNN
SAGEConv_f · max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2066544"/>
            <a:ext cx="50292" cy="5303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27248" y="1993392"/>
            <a:ext cx="1097280" cy="67665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SE gate
GAP→MLP→σ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66544"/>
            <a:ext cx="50292" cy="53035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886200"/>
            <a:ext cx="658368" cy="45720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59352"/>
            <a:ext cx="50292" cy="31089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81328" y="3749039"/>
            <a:ext cx="1847088" cy="731520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OFF
Coordinate KNN + SAGEConv_p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3822191"/>
            <a:ext cx="50292" cy="585216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53712" y="2761488"/>
            <a:ext cx="822960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Feature 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50992" y="2761488"/>
            <a:ext cx="694944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50" b="1">
                <a:solidFill>
                  <a:srgbClr val="252F40"/>
                </a:solidFill>
                <a:latin typeface="Microsoft YaHei"/>
              </a:rPr>
              <a:t>Fuse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2834640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0256" y="2761488"/>
            <a:ext cx="804672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Σ + 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0256" y="2834640"/>
            <a:ext cx="50292" cy="5486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44383" y="2761488"/>
            <a:ext cx="457200" cy="69494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252F40"/>
                </a:solidFill>
                <a:latin typeface="Microsoft YaHei"/>
              </a:rPr>
              <a:t>f_out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72768" y="5065776"/>
            <a:ext cx="1645920" cy="585216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0">
                <a:solidFill>
                  <a:srgbClr val="252F40"/>
                </a:solidFill>
                <a:latin typeface="Microsoft YaHei"/>
              </a:rPr>
              <a:t>feature residual
Identity / projection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5138928"/>
            <a:ext cx="50292" cy="438912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4956048"/>
            <a:ext cx="2011680" cy="76809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1">
                <a:solidFill>
                  <a:srgbClr val="252F40"/>
                </a:solidFill>
                <a:latin typeface="Microsoft YaHei"/>
              </a:rPr>
              <a:t>OFF
coordinate residual group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5029200"/>
            <a:ext cx="50292" cy="62179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53328" y="5065776"/>
            <a:ext cx="1353312" cy="585216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absent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3328" y="5138928"/>
            <a:ext cx="50292" cy="438912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25296" y="2331720"/>
            <a:ext cx="256032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834640" y="2331720"/>
            <a:ext cx="292608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25296" y="4114800"/>
            <a:ext cx="256032" cy="0"/>
          </a:xfrm>
          <a:prstGeom prst="line">
            <a:avLst/>
          </a:prstGeom>
          <a:ln w="17145">
            <a:solidFill>
              <a:srgbClr val="DD434B"/>
            </a:solidFill>
            <a:prstDash val="sys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76672" y="3108960"/>
            <a:ext cx="274320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45936" y="3108960"/>
            <a:ext cx="274320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24927" y="3108960"/>
            <a:ext cx="219456" cy="0"/>
          </a:xfrm>
          <a:prstGeom prst="line">
            <a:avLst/>
          </a:prstGeom>
          <a:ln w="17145">
            <a:solidFill>
              <a:srgbClr val="1F9D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759952" y="1901952"/>
            <a:ext cx="2834640" cy="640080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唯一有效变化
physical branch = OFF · coord residual = OFF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59952" y="1975104"/>
            <a:ext cx="50292" cy="493775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759952" y="2724912"/>
            <a:ext cx="2834640" cy="74980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研究问题
physical branch 与 coordinate residual 是否存在交互？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59952" y="2798064"/>
            <a:ext cx="50292" cy="60350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759952" y="3675887"/>
            <a:ext cx="2834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0">
                <a:solidFill>
                  <a:srgbClr val="252F40"/>
                </a:solidFill>
                <a:latin typeface="Microsoft YaHei"/>
              </a:rPr>
              <a:t>physical=false · SE=true
coord_res=false · feature_res=true
AGG=max · exclude_self=true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59952" y="3749039"/>
            <a:ext cx="50292" cy="65836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759952" y="4681728"/>
            <a:ext cx="2834640" cy="62179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MLP head · effective λ_obj=0
Parameters: 1,135,645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59952" y="4754880"/>
            <a:ext cx="50292" cy="47548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759952" y="5504688"/>
            <a:ext cx="2834640" cy="585216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19" b="0">
                <a:solidFill>
                  <a:srgbClr val="252F40"/>
                </a:solidFill>
                <a:latin typeface="Microsoft YaHei"/>
              </a:rPr>
              <a:t>Stem 仍输入 xyzi；B7 不是无坐标模型，而是移除两条显式坐标增强路径。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59952" y="5577840"/>
            <a:ext cx="50292" cy="438912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B8 · GraphSAGE vs EdgeCNN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参数匹配算子对照 · 仅改变局部消息传递规则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model/graph_res_GCN.py · model/graph_res_GCN_ablation.py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Operator-controlled Blocks ×4
32→64→64→128→256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MLP head
center B×3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8101583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6419088" y="3822191"/>
            <a:ext cx="365760" cy="594361"/>
          </a:xfrm>
          <a:custGeom>
            <a:avLst/>
            <a:gdLst/>
            <a:ahLst/>
            <a:cxnLst/>
            <a:rect l="l" t="t" r="r" b="b"/>
            <a:pathLst>
              <a:path w="365760" h="594360">
                <a:moveTo>
                  <a:pt x="0" y="594360"/>
                </a:moveTo>
                <a:cubicBezTo>
                  <a:pt x="146304" y="594360"/>
                  <a:pt x="182880" y="137160"/>
                  <a:pt x="365760" y="0"/>
                </a:cubicBezTo>
              </a:path>
            </a:pathLst>
          </a:custGeom>
          <a:noFill/>
          <a:ln w="18415">
            <a:solidFill>
              <a:srgbClr val="EB91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6419088" y="3209544"/>
            <a:ext cx="365760" cy="374904"/>
          </a:xfrm>
          <a:custGeom>
            <a:avLst/>
            <a:gdLst/>
            <a:ahLst/>
            <a:cxnLst/>
            <a:rect l="l" t="t" r="r" b="b"/>
            <a:pathLst>
              <a:path w="365760" h="374904">
                <a:moveTo>
                  <a:pt x="0" y="0"/>
                </a:moveTo>
                <a:cubicBezTo>
                  <a:pt x="146304" y="0"/>
                  <a:pt x="182880" y="283464"/>
                  <a:pt x="365760" y="374904"/>
                </a:cubicBezTo>
              </a:path>
            </a:pathLst>
          </a:custGeom>
          <a:noFill/>
          <a:ln w="18415">
            <a:solidFill>
              <a:srgbClr val="2F6BF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735823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Same KNN graph · two parameter-matched local operators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31936" y="1536192"/>
            <a:ext cx="3236976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14815" y="1627632"/>
            <a:ext cx="2871216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Controlled comparison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1984248"/>
            <a:ext cx="987552" cy="566928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0" b="1">
                <a:solidFill>
                  <a:srgbClr val="252F40"/>
                </a:solidFill>
                <a:latin typeface="Microsoft YaHei"/>
              </a:rPr>
              <a:t>x · B×Cin×N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" y="2057400"/>
            <a:ext cx="50292" cy="420623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47088" y="1984248"/>
            <a:ext cx="1225296" cy="566928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1">
                <a:solidFill>
                  <a:srgbClr val="252F40"/>
                </a:solidFill>
                <a:latin typeface="Microsoft YaHei"/>
              </a:rPr>
              <a:t>Same KNN
edge_index j→i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47088" y="2057400"/>
            <a:ext cx="50292" cy="420623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591056" y="2267712"/>
            <a:ext cx="256032" cy="0"/>
          </a:xfrm>
          <a:prstGeom prst="line">
            <a:avLst/>
          </a:prstGeom>
          <a:ln w="1714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03504" y="2944368"/>
            <a:ext cx="1078992" cy="530352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B0 · GraphSAGE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" y="3017520"/>
            <a:ext cx="50292" cy="384047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93392" y="2852928"/>
            <a:ext cx="1298448" cy="713232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90" b="0">
                <a:solidFill>
                  <a:srgbClr val="252F40"/>
                </a:solidFill>
                <a:latin typeface="Microsoft YaHei"/>
              </a:rPr>
              <a:t>AGG{x_j}
max / mean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93392" y="2926080"/>
            <a:ext cx="50292" cy="5669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21024" y="2852928"/>
            <a:ext cx="1499616" cy="713232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0" b="1">
                <a:solidFill>
                  <a:srgbClr val="252F40"/>
                </a:solidFill>
                <a:latin typeface="Microsoft YaHei"/>
              </a:rPr>
              <a:t>W_neighbor·AGG{x_j}
+ W_root·x_i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21024" y="2926080"/>
            <a:ext cx="50292" cy="5669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49824" y="2852928"/>
            <a:ext cx="969264" cy="71323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40" b="1">
                <a:solidFill>
                  <a:srgbClr val="252F40"/>
                </a:solidFill>
                <a:latin typeface="Microsoft YaHei"/>
              </a:rPr>
              <a:t>h_i (SAGE)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2926080"/>
            <a:ext cx="50292" cy="56692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682496" y="3209544"/>
            <a:ext cx="310896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291840" y="3209544"/>
            <a:ext cx="329184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120640" y="3209544"/>
            <a:ext cx="329184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03504" y="4151376"/>
            <a:ext cx="1078992" cy="530352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B8 · EdgeCNN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" y="4224528"/>
            <a:ext cx="50292" cy="384047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993392" y="4041648"/>
            <a:ext cx="1298448" cy="749808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0">
                <a:solidFill>
                  <a:srgbClr val="252F40"/>
                </a:solidFill>
                <a:latin typeface="Microsoft YaHei"/>
              </a:rPr>
              <a:t>edge feature
[x_j-x_i, x_i]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93392" y="4114800"/>
            <a:ext cx="50292" cy="603503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621024" y="4041648"/>
            <a:ext cx="1499616" cy="749808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69" b="1">
                <a:solidFill>
                  <a:srgbClr val="252F40"/>
                </a:solidFill>
                <a:latin typeface="Microsoft YaHei"/>
              </a:rPr>
              <a:t>shared 1×1 CNN
Linear(2Cin,Cout)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21024" y="4114800"/>
            <a:ext cx="50292" cy="603503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49824" y="4041648"/>
            <a:ext cx="969264" cy="749808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0" b="1">
                <a:solidFill>
                  <a:srgbClr val="252F40"/>
                </a:solidFill>
                <a:latin typeface="Microsoft YaHei"/>
              </a:rPr>
              <a:t>AGG
h_i (CNN)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9824" y="4114800"/>
            <a:ext cx="50292" cy="603503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82496" y="4416552"/>
            <a:ext cx="310896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291840" y="4416552"/>
            <a:ext cx="329184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120640" y="4416552"/>
            <a:ext cx="329184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784848" y="3310128"/>
            <a:ext cx="1280160" cy="786384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1">
                <a:solidFill>
                  <a:srgbClr val="252F40"/>
                </a:solidFill>
                <a:latin typeface="Microsoft YaHei"/>
              </a:rPr>
              <a:t>Same downstream
BN + Act → SE
Dual fusion + residuals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84848" y="3383280"/>
            <a:ext cx="50292" cy="640080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78992" y="5285232"/>
            <a:ext cx="6364224" cy="603504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19" b="1">
                <a:solidFill>
                  <a:srgbClr val="252F40"/>
                </a:solidFill>
                <a:latin typeface="Microsoft YaHei"/>
              </a:rPr>
              <a:t>Exact parameter match: GraphSAGE = 1,331,745 · EdgeCNN = 1,331,745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78992" y="5358384"/>
            <a:ext cx="50292" cy="4572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8992" y="5943600"/>
            <a:ext cx="6364224" cy="18288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19" b="1">
                <a:solidFill>
                  <a:srgbClr val="12213A"/>
                </a:solidFill>
                <a:latin typeface="Microsoft YaHei"/>
              </a:rPr>
              <a:t>Compare B8-B0 per seed: classification, center error, mIoU and AP metrics.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87968" y="1883664"/>
            <a:ext cx="2724912" cy="64008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唯一有效变化
operator: sage → edge_cnn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87968" y="1956816"/>
            <a:ext cx="50292" cy="493775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887968" y="2706624"/>
            <a:ext cx="2724912" cy="950976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50" b="1">
                <a:solidFill>
                  <a:srgbClr val="252F40"/>
                </a:solidFill>
                <a:latin typeface="Microsoft YaHei"/>
              </a:rPr>
              <a:t>完全固定
KNN · 双分支 · AGG · SE · fusion
feature/coord residual · MLP head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87968" y="2779776"/>
            <a:ext cx="50292" cy="80467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887968" y="3840480"/>
            <a:ext cx="2724912" cy="694944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研究问题
图卷积是否优于 CNN 式边卷积？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87968" y="3913632"/>
            <a:ext cx="50292" cy="548640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887968" y="4718304"/>
            <a:ext cx="2724912" cy="640080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Registered seeds: 42 / 43
Family: operator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87968" y="4791456"/>
            <a:ext cx="50292" cy="493775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887968" y="5522976"/>
            <a:ext cx="2724912" cy="566928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19" b="1">
                <a:solidFill>
                  <a:srgbClr val="252F40"/>
                </a:solidFill>
                <a:latin typeface="Microsoft YaHei"/>
              </a:rPr>
              <a:t>Analysis: scripts/analyze_gcn_vs_edge_cnn.py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87968" y="5596128"/>
            <a:ext cx="50292" cy="420623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8046720" cy="32918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C series · λ_obj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337560" cy="256032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DAE2F0"/>
                </a:solidFill>
                <a:latin typeface="Microsoft YaHei"/>
              </a:rPr>
              <a:t>相同 centroid 架构，仅改变辅助目标性 BCE 权重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786384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70" b="0">
                <a:solidFill>
                  <a:srgbClr val="AABAD3"/>
                </a:solidFill>
                <a:latin typeface="Microsoft YaHei"/>
              </a:rPr>
              <a:t>Editable vector diagram · strict code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6583680"/>
            <a:ext cx="77724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697487"/>
                </a:solidFill>
                <a:latin typeface="Microsoft YaHei"/>
              </a:rPr>
              <a:t>Source: utils/loss.py · scripts/train.py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0"/>
            <a:ext cx="2286000" cy="146304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730" b="0">
                <a:solidFill>
                  <a:srgbClr val="697487"/>
                </a:solidFill>
                <a:latin typeface="Microsoft YaHei"/>
              </a:rPr>
              <a:t>Snapshot: 2026-07-20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804672"/>
            <a:ext cx="1051560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Input
B×N×4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804672"/>
            <a:ext cx="107899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12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Stem
4→32→32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877824"/>
            <a:ext cx="50292" cy="356616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9232" y="804672"/>
            <a:ext cx="15087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GraphResidual-GCN ×4
centroid head enabled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804672"/>
            <a:ext cx="1417320" cy="50292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Multi-scale
Cat + Agg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877824"/>
            <a:ext cx="50292" cy="356616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804672"/>
            <a:ext cx="1298448" cy="50292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Max + Avg
Global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77824"/>
            <a:ext cx="50292" cy="35661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804672"/>
            <a:ext cx="1280160" cy="50292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Classification
logits B×C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877824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804672"/>
            <a:ext cx="2194560" cy="5029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1">
                <a:solidFill>
                  <a:srgbClr val="252F40"/>
                </a:solidFill>
                <a:latin typeface="Microsoft YaHei"/>
              </a:rPr>
              <a:t>Centroid head
center B×3 + seg logits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877824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399031" y="1056132"/>
            <a:ext cx="265177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056132"/>
            <a:ext cx="256032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9632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1056132"/>
            <a:ext cx="274320" cy="0"/>
          </a:xfrm>
          <a:prstGeom prst="line">
            <a:avLst/>
          </a:prstGeom>
          <a:ln w="15875">
            <a:solidFill>
              <a:srgbClr val="1221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" y="1536192"/>
            <a:ext cx="781812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242816" y="2779776"/>
            <a:ext cx="192024" cy="1197863"/>
          </a:xfrm>
          <a:custGeom>
            <a:avLst/>
            <a:gdLst/>
            <a:ahLst/>
            <a:cxnLst/>
            <a:rect l="l" t="t" r="r" b="b"/>
            <a:pathLst>
              <a:path w="192023" h="1197863">
                <a:moveTo>
                  <a:pt x="0" y="0"/>
                </a:moveTo>
                <a:cubicBezTo>
                  <a:pt x="73152" y="466343"/>
                  <a:pt x="73152" y="896111"/>
                  <a:pt x="192023" y="1197863"/>
                </a:cubicBezTo>
              </a:path>
            </a:pathLst>
          </a:custGeom>
          <a:noFill/>
          <a:ln w="18415">
            <a:solidFill>
              <a:srgbClr val="DD434B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1627632"/>
            <a:ext cx="7452360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Centroid head and auxiliary objectness supervision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9327" y="1536192"/>
            <a:ext cx="3529584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7" y="1627632"/>
            <a:ext cx="3163824" cy="274320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2213A"/>
                </a:solidFill>
                <a:latin typeface="Microsoft YaHei"/>
              </a:rPr>
              <a:t>Sensitivity configurations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2139696"/>
            <a:ext cx="1225296" cy="640080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Point features
B×512×N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212848"/>
            <a:ext cx="50292" cy="493775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76272" y="2139696"/>
            <a:ext cx="1225296" cy="64008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seg_mlp
512→128→1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76272" y="2212848"/>
            <a:ext cx="50292" cy="493775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712463" y="2139696"/>
            <a:ext cx="1060704" cy="640080"/>
          </a:xfrm>
          <a:prstGeom prst="roundRect">
            <a:avLst/>
          </a:prstGeom>
          <a:solidFill>
            <a:srgbClr val="F2ECFD"/>
          </a:solidFill>
          <a:ln w="15240">
            <a:solidFill>
              <a:srgbClr val="704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0">
                <a:solidFill>
                  <a:srgbClr val="252F40"/>
                </a:solidFill>
                <a:latin typeface="Microsoft YaHei"/>
              </a:rPr>
              <a:t>seg_logits
B×N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12463" y="2212848"/>
            <a:ext cx="50292" cy="493775"/>
          </a:xfrm>
          <a:prstGeom prst="rect">
            <a:avLst/>
          </a:prstGeom>
          <a:solidFill>
            <a:srgbClr val="704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84064" y="2139696"/>
            <a:ext cx="1115568" cy="64008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0">
                <a:solidFill>
                  <a:srgbClr val="252F40"/>
                </a:solidFill>
                <a:latin typeface="Microsoft YaHei"/>
              </a:rPr>
              <a:t>softmax(s/τ)
Σw=1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4064" y="2212848"/>
            <a:ext cx="50292" cy="493775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92240" y="2139696"/>
            <a:ext cx="1225296" cy="640080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0" b="1">
                <a:solidFill>
                  <a:srgbClr val="252F40"/>
                </a:solidFill>
                <a:latin typeface="Microsoft YaHei"/>
              </a:rPr>
              <a:t>Σ w_i · xyz_i
center B×3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212848"/>
            <a:ext cx="50292" cy="493775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865376" y="2459736"/>
            <a:ext cx="310896" cy="0"/>
          </a:xfrm>
          <a:prstGeom prst="line">
            <a:avLst/>
          </a:prstGeom>
          <a:ln w="17145">
            <a:solidFill>
              <a:srgbClr val="2F6B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01568" y="2459736"/>
            <a:ext cx="310895" cy="0"/>
          </a:xfrm>
          <a:prstGeom prst="line">
            <a:avLst/>
          </a:prstGeom>
          <a:ln w="17145">
            <a:solidFill>
              <a:srgbClr val="7047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73168" y="2459736"/>
            <a:ext cx="310896" cy="0"/>
          </a:xfrm>
          <a:prstGeom prst="line">
            <a:avLst/>
          </a:prstGeom>
          <a:ln w="17145">
            <a:solidFill>
              <a:srgbClr val="7047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199632" y="2459736"/>
            <a:ext cx="292608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40080" y="3977639"/>
            <a:ext cx="1225296" cy="621792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GT box
B×6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050791"/>
            <a:ext cx="50292" cy="47548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176272" y="3977639"/>
            <a:ext cx="1389888" cy="621792"/>
          </a:xfrm>
          <a:prstGeom prst="roundRect">
            <a:avLst/>
          </a:prstGeom>
          <a:solidFill>
            <a:srgbClr val="E5F7F7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0">
                <a:solidFill>
                  <a:srgbClr val="252F40"/>
                </a:solidFill>
                <a:latin typeface="Microsoft YaHei"/>
              </a:rPr>
              <a:t>Point-in-box labels
0 /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76272" y="4050791"/>
            <a:ext cx="50292" cy="475488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77056" y="3977639"/>
            <a:ext cx="1115568" cy="621792"/>
          </a:xfrm>
          <a:prstGeom prst="roundRect">
            <a:avLst/>
          </a:prstGeom>
          <a:solidFill>
            <a:srgbClr val="FDECEE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40" b="1">
                <a:solidFill>
                  <a:srgbClr val="252F40"/>
                </a:solidFill>
                <a:latin typeface="Microsoft YaHei"/>
              </a:rPr>
              <a:t>BCE
L_obj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77056" y="4050791"/>
            <a:ext cx="50292" cy="475488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321808" y="3977639"/>
            <a:ext cx="1133856" cy="621792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19" b="1">
                <a:solidFill>
                  <a:srgbClr val="252F40"/>
                </a:solidFill>
                <a:latin typeface="Microsoft YaHei"/>
              </a:rPr>
              <a:t>λ_obj × L_obj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21808" y="4050791"/>
            <a:ext cx="50292" cy="475488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766560" y="3977639"/>
            <a:ext cx="950976" cy="621792"/>
          </a:xfrm>
          <a:prstGeom prst="roundRect">
            <a:avLst/>
          </a:prstGeom>
          <a:solidFill>
            <a:srgbClr val="E8F7EE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40" b="1">
                <a:solidFill>
                  <a:srgbClr val="252F40"/>
                </a:solidFill>
                <a:latin typeface="Microsoft YaHei"/>
              </a:rPr>
              <a:t>L_total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4050791"/>
            <a:ext cx="50292" cy="47548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865376" y="4288536"/>
            <a:ext cx="310896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566160" y="4288536"/>
            <a:ext cx="310896" cy="0"/>
          </a:xfrm>
          <a:prstGeom prst="line">
            <a:avLst/>
          </a:prstGeom>
          <a:ln w="17145">
            <a:solidFill>
              <a:srgbClr val="00969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92624" y="4288536"/>
            <a:ext cx="329184" cy="0"/>
          </a:xfrm>
          <a:prstGeom prst="line">
            <a:avLst/>
          </a:prstGeom>
          <a:ln w="17145">
            <a:solidFill>
              <a:srgbClr val="DD434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455664" y="4288536"/>
            <a:ext cx="310896" cy="0"/>
          </a:xfrm>
          <a:prstGeom prst="line">
            <a:avLst/>
          </a:prstGeom>
          <a:ln w="17145">
            <a:solidFill>
              <a:srgbClr val="EB91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8368" y="5047488"/>
            <a:ext cx="6903720" cy="475488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12213A"/>
                </a:solidFill>
                <a:latin typeface="Microsoft YaHei"/>
              </a:rPr>
              <a:t>L_total = 1.0·L_cls + 10.0·L_depth + λ_obj·L_obj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5650992"/>
            <a:ext cx="6903720" cy="292608"/>
          </a:xfrm>
          <a:prstGeom prst="rect">
            <a:avLst/>
          </a:prstGeom>
          <a:noFill/>
          <a:effectLst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80" b="0">
                <a:solidFill>
                  <a:srgbClr val="697487"/>
                </a:solidFill>
                <a:latin typeface="Microsoft YaHei"/>
              </a:rPr>
              <a:t>Architecture, split, seed protocol and initialization rules remain fixed; every λ run is trained from scratch.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13648" y="1965960"/>
            <a:ext cx="658368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13648" y="2039112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400032" y="1965960"/>
            <a:ext cx="217627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0">
                <a:solidFill>
                  <a:srgbClr val="252F40"/>
                </a:solidFill>
                <a:latin typeface="Microsoft YaHei"/>
              </a:rPr>
              <a:t>A2 · reuse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00032" y="2039112"/>
            <a:ext cx="50292" cy="35661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613648" y="2715768"/>
            <a:ext cx="658368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0.25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13648" y="2788920"/>
            <a:ext cx="50292" cy="35661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400032" y="2715768"/>
            <a:ext cx="217627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0">
                <a:solidFill>
                  <a:srgbClr val="252F40"/>
                </a:solidFill>
                <a:latin typeface="Microsoft YaHei"/>
              </a:rPr>
              <a:t>low · new train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00032" y="2788920"/>
            <a:ext cx="50292" cy="356616"/>
          </a:xfrm>
          <a:prstGeom prst="rect">
            <a:avLst/>
          </a:prstGeom>
          <a:solidFill>
            <a:srgbClr val="00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613648" y="3465575"/>
            <a:ext cx="658368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0.5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13648" y="3538727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400032" y="3465575"/>
            <a:ext cx="217627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0">
                <a:solidFill>
                  <a:srgbClr val="252F40"/>
                </a:solidFill>
                <a:latin typeface="Microsoft YaHei"/>
              </a:rPr>
              <a:t>A3 · reuse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00032" y="3538727"/>
            <a:ext cx="50292" cy="3566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613648" y="4215383"/>
            <a:ext cx="658368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1000" b="1">
                <a:solidFill>
                  <a:srgbClr val="252F40"/>
                </a:solidFill>
                <a:latin typeface="Microsoft YaHei"/>
              </a:rPr>
              <a:t>1.0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13648" y="4288536"/>
            <a:ext cx="50292" cy="356616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400032" y="4215383"/>
            <a:ext cx="2176272" cy="502920"/>
          </a:xfrm>
          <a:prstGeom prst="roundRect">
            <a:avLst/>
          </a:prstGeom>
          <a:solidFill>
            <a:srgbClr val="F1F4F9"/>
          </a:solidFill>
          <a:ln w="15240">
            <a:solidFill>
              <a:srgbClr val="DA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880" b="0">
                <a:solidFill>
                  <a:srgbClr val="252F40"/>
                </a:solidFill>
                <a:latin typeface="Microsoft YaHei"/>
              </a:rPr>
              <a:t>strong · new train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00032" y="4288536"/>
            <a:ext cx="50292" cy="356616"/>
          </a:xfrm>
          <a:prstGeom prst="rect">
            <a:avLst/>
          </a:prstGeom>
          <a:solidFill>
            <a:srgbClr val="DD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613648" y="5285232"/>
            <a:ext cx="2962656" cy="73152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B9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50800" tIns="25400" bIns="25400"/>
          <a:lstStyle/>
          <a:p>
            <a:pPr algn="ctr"/>
            <a:r>
              <a:rPr sz="900" b="1">
                <a:solidFill>
                  <a:srgbClr val="252F40"/>
                </a:solidFill>
                <a:latin typeface="Microsoft YaHei"/>
              </a:rPr>
              <a:t>Frozen sensitivity grid
{0, 0.25, 0.5, 1.0}
0 / 0.5 reuse A2 / A3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13648" y="5358384"/>
            <a:ext cx="50292" cy="585216"/>
          </a:xfrm>
          <a:prstGeom prst="rect">
            <a:avLst/>
          </a:prstGeom>
          <a:solidFill>
            <a:srgbClr val="EB9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SPAD editable model architecture</dc:title>
  <dc:subject>GraphResidual, formal GraphResidual-GCN, structural ablations, and parameter-matched EdgeCNN control</dc:subject>
  <dc:creator>SPAD Project</dc:creator>
  <cp:keywords/>
  <dc:description>Generated by scripts/generate_model_architecture_ppt.py after local render-review iterations.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